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5F237-7ACA-4DEA-925B-A3CE6D3C28D6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18A35-738B-4D7A-947E-D6295CCB6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295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项目：听见耳机评论分析系统。讲述重点为</a:t>
            </a:r>
            <a:r>
              <a:rPr lang="en-US" altLang="zh-CN"/>
              <a:t>NLP</a:t>
            </a:r>
            <a:r>
              <a:rPr lang="zh-CN" altLang="en-US"/>
              <a:t>应用流程及实际</a:t>
            </a:r>
            <a:r>
              <a:rPr lang="en-US" altLang="zh-CN"/>
              <a:t>Web</a:t>
            </a:r>
            <a:r>
              <a:rPr lang="zh-CN" altLang="en-US"/>
              <a:t>实现。资料依据：</a:t>
            </a:r>
            <a:r>
              <a:rPr lang="en-US" altLang="zh-CN"/>
              <a:t>docs/</a:t>
            </a:r>
            <a:r>
              <a:rPr lang="zh-CN" altLang="en-US"/>
              <a:t>课程报告</a:t>
            </a:r>
            <a:r>
              <a:rPr lang="en-US" altLang="zh-CN"/>
              <a:t>.md</a:t>
            </a:r>
            <a:r>
              <a:rPr lang="zh-CN" altLang="en-US"/>
              <a:t>、</a:t>
            </a:r>
            <a:r>
              <a:rPr lang="en-US" altLang="zh-CN"/>
              <a:t>docs/</a:t>
            </a:r>
            <a:r>
              <a:rPr lang="zh-CN" altLang="en-US"/>
              <a:t>实验结果</a:t>
            </a:r>
            <a:r>
              <a:rPr lang="en-US" altLang="zh-CN"/>
              <a:t>/</a:t>
            </a:r>
            <a:r>
              <a:rPr lang="zh-CN" altLang="en-US"/>
              <a:t>模型对照结果</a:t>
            </a:r>
            <a:r>
              <a:rPr lang="en-US" altLang="zh-CN"/>
              <a:t>.json</a:t>
            </a:r>
            <a:r>
              <a:rPr lang="zh-CN" altLang="en-US"/>
              <a:t>、当前源码。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157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docs/</a:t>
            </a:r>
            <a:r>
              <a:rPr lang="zh-CN" altLang="en-US"/>
              <a:t>课程报告</a:t>
            </a:r>
            <a:r>
              <a:rPr lang="en-US" altLang="zh-CN"/>
              <a:t>.md </a:t>
            </a: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2</a:t>
            </a:r>
            <a:r>
              <a:rPr lang="zh-CN" altLang="en-US"/>
              <a:t>节。示例评论为讲解所用的人工示例，不作为实际采集数据。</a:t>
            </a:r>
            <a:r>
              <a:rPr lang="en-US" altLang="zh-CN"/>
              <a:t>ABSA</a:t>
            </a:r>
            <a:r>
              <a:rPr lang="zh-CN" altLang="en-US"/>
              <a:t>任务定义参考 </a:t>
            </a:r>
            <a:r>
              <a:rPr lang="en-US" altLang="zh-CN"/>
              <a:t>https://aclanthology.org/S14-2004/</a:t>
            </a:r>
            <a:r>
              <a:rPr lang="zh-CN" altLang="en-US"/>
              <a:t>。未提及属于没有意见，不是中性标签。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268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docs/</a:t>
            </a:r>
            <a:r>
              <a:rPr lang="zh-CN" altLang="en-US"/>
              <a:t>课程报告</a:t>
            </a:r>
            <a:r>
              <a:rPr lang="en-US" altLang="zh-CN"/>
              <a:t>.md </a:t>
            </a:r>
            <a:r>
              <a:rPr lang="zh-CN" altLang="en-US"/>
              <a:t>第</a:t>
            </a:r>
            <a:r>
              <a:rPr lang="en-US" altLang="zh-CN"/>
              <a:t>3.2</a:t>
            </a:r>
            <a:r>
              <a:rPr lang="zh-CN" altLang="en-US"/>
              <a:t>、</a:t>
            </a:r>
            <a:r>
              <a:rPr lang="en-US" altLang="zh-CN"/>
              <a:t>3.6</a:t>
            </a:r>
            <a:r>
              <a:rPr lang="zh-CN" altLang="en-US"/>
              <a:t>节，</a:t>
            </a:r>
            <a:r>
              <a:rPr lang="en-US" altLang="zh-CN"/>
              <a:t>packages/nlp/mnb.ts</a:t>
            </a:r>
            <a:r>
              <a:rPr lang="zh-CN" altLang="en-US"/>
              <a:t>，</a:t>
            </a:r>
            <a:r>
              <a:rPr lang="en-US" altLang="zh-CN"/>
              <a:t>apps/api/src/importer.ts</a:t>
            </a:r>
            <a:r>
              <a:rPr lang="zh-CN" altLang="en-US"/>
              <a:t>。业务</a:t>
            </a:r>
            <a:r>
              <a:rPr lang="en-US" altLang="zh-CN"/>
              <a:t>CSV</a:t>
            </a:r>
            <a:r>
              <a:rPr lang="zh-CN" altLang="en-US"/>
              <a:t>导入只进行推理。评分不能自动替代方面级情感标签。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425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docs/</a:t>
            </a:r>
            <a:r>
              <a:rPr lang="zh-CN" altLang="en-US"/>
              <a:t>课程报告</a:t>
            </a:r>
            <a:r>
              <a:rPr lang="en-US" altLang="zh-CN"/>
              <a:t>.md 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节及第</a:t>
            </a:r>
            <a:r>
              <a:rPr lang="en-US" altLang="zh-CN"/>
              <a:t>4</a:t>
            </a:r>
            <a:r>
              <a:rPr lang="zh-CN" altLang="en-US"/>
              <a:t>节。采集</a:t>
            </a:r>
            <a:r>
              <a:rPr lang="en-US" altLang="zh-CN"/>
              <a:t>CSV</a:t>
            </a:r>
            <a:r>
              <a:rPr lang="zh-CN" altLang="en-US"/>
              <a:t>预览确认后才进入正式评论表。分析运行所选一种方法，模型对照实验另外在同一测试集执行多种方法。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364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docs/</a:t>
            </a:r>
            <a:r>
              <a:rPr lang="zh-CN" altLang="en-US"/>
              <a:t>课程报告</a:t>
            </a:r>
            <a:r>
              <a:rPr lang="en-US" altLang="zh-CN"/>
              <a:t>.md </a:t>
            </a:r>
            <a:r>
              <a:rPr lang="zh-CN" altLang="en-US"/>
              <a:t>第</a:t>
            </a:r>
            <a:r>
              <a:rPr lang="en-US" altLang="zh-CN"/>
              <a:t>3.5</a:t>
            </a:r>
            <a:r>
              <a:rPr lang="zh-CN" altLang="en-US"/>
              <a:t>节，</a:t>
            </a:r>
            <a:r>
              <a:rPr lang="en-US" altLang="zh-CN"/>
              <a:t>packages/nlp/semantic.ts</a:t>
            </a:r>
            <a:r>
              <a:rPr lang="zh-CN" altLang="en-US"/>
              <a:t>及历史模型信息。</a:t>
            </a:r>
            <a:r>
              <a:rPr lang="en-US" altLang="zh-CN"/>
              <a:t>Qwen3</a:t>
            </a:r>
            <a:r>
              <a:rPr lang="zh-CN" altLang="en-US"/>
              <a:t>官方背景：</a:t>
            </a:r>
            <a:r>
              <a:rPr lang="en-US" altLang="zh-CN"/>
              <a:t>https://qwenlm.github.io/blog/qwen3/</a:t>
            </a:r>
            <a:r>
              <a:rPr lang="zh-CN" altLang="en-US"/>
              <a:t>。结构化输出：</a:t>
            </a:r>
            <a:r>
              <a:rPr lang="en-US" altLang="zh-CN"/>
              <a:t>https://docs.ollama.com/capabilities/structured-outputs</a:t>
            </a:r>
            <a:r>
              <a:rPr lang="zh-CN" altLang="en-US"/>
              <a:t>。当前版本</a:t>
            </a:r>
            <a:r>
              <a:rPr lang="en-US" altLang="zh-CN"/>
              <a:t>ollama-qwen3:4b-absa-v4</a:t>
            </a:r>
            <a:r>
              <a:rPr lang="zh-CN" altLang="en-US"/>
              <a:t>，未对</a:t>
            </a:r>
            <a:r>
              <a:rPr lang="en-US" altLang="zh-CN"/>
              <a:t>Qwen</a:t>
            </a:r>
            <a:r>
              <a:rPr lang="zh-CN" altLang="en-US"/>
              <a:t>做项目内微调。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316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docs/</a:t>
            </a:r>
            <a:r>
              <a:rPr lang="zh-CN" altLang="en-US"/>
              <a:t>课程报告</a:t>
            </a:r>
            <a:r>
              <a:rPr lang="en-US" altLang="zh-CN"/>
              <a:t>.md </a:t>
            </a:r>
            <a:r>
              <a:rPr lang="zh-CN" altLang="en-US"/>
              <a:t>第</a:t>
            </a:r>
            <a:r>
              <a:rPr lang="en-US" altLang="zh-CN"/>
              <a:t>3.6</a:t>
            </a:r>
            <a:r>
              <a:rPr lang="zh-CN" altLang="en-US"/>
              <a:t>节，</a:t>
            </a:r>
            <a:r>
              <a:rPr lang="en-US" altLang="zh-CN"/>
              <a:t>scripts/train.ts</a:t>
            </a:r>
            <a:r>
              <a:rPr lang="zh-CN" altLang="en-US"/>
              <a:t>、</a:t>
            </a:r>
            <a:r>
              <a:rPr lang="en-US" altLang="zh-CN"/>
              <a:t>packages/nlp/mnb.ts</a:t>
            </a:r>
            <a:r>
              <a:rPr lang="zh-CN" altLang="en-US"/>
              <a:t>、</a:t>
            </a:r>
            <a:r>
              <a:rPr lang="en-US" altLang="zh-CN"/>
              <a:t>data/model.json</a:t>
            </a:r>
            <a:r>
              <a:rPr lang="zh-CN" altLang="en-US"/>
              <a:t>。统计为</a:t>
            </a:r>
            <a:r>
              <a:rPr lang="en-US" altLang="zh-CN"/>
              <a:t>126</a:t>
            </a:r>
            <a:r>
              <a:rPr lang="zh-CN" altLang="en-US"/>
              <a:t>合成样例，正负中各</a:t>
            </a:r>
            <a:r>
              <a:rPr lang="en-US" altLang="zh-CN"/>
              <a:t>42</a:t>
            </a:r>
            <a:r>
              <a:rPr lang="zh-CN" altLang="en-US"/>
              <a:t>，</a:t>
            </a:r>
            <a:r>
              <a:rPr lang="en-US" altLang="zh-CN"/>
              <a:t>1172</a:t>
            </a:r>
            <a:r>
              <a:rPr lang="zh-CN" altLang="en-US"/>
              <a:t>词表，模型</a:t>
            </a:r>
            <a:r>
              <a:rPr lang="en-US" altLang="zh-CN"/>
              <a:t>51217</a:t>
            </a:r>
            <a:r>
              <a:rPr lang="zh-CN" altLang="en-US"/>
              <a:t>字节。训练为统计计数，无神经网络</a:t>
            </a:r>
            <a:r>
              <a:rPr lang="en-US" altLang="zh-CN"/>
              <a:t>epoch/loss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712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docs/</a:t>
            </a:r>
            <a:r>
              <a:rPr lang="zh-CN" altLang="en-US"/>
              <a:t>课程报告</a:t>
            </a:r>
            <a:r>
              <a:rPr lang="en-US" altLang="zh-CN"/>
              <a:t>.md </a:t>
            </a:r>
            <a:r>
              <a:rPr lang="zh-CN" altLang="en-US"/>
              <a:t>第</a:t>
            </a:r>
            <a:r>
              <a:rPr lang="en-US" altLang="zh-CN"/>
              <a:t>3.6</a:t>
            </a:r>
            <a:r>
              <a:rPr lang="zh-CN" altLang="en-US"/>
              <a:t>节及</a:t>
            </a:r>
            <a:r>
              <a:rPr lang="en-US" altLang="zh-CN"/>
              <a:t>packages/nlp/analyze.ts</a:t>
            </a:r>
            <a:r>
              <a:rPr lang="zh-CN" altLang="en-US"/>
              <a:t>、</a:t>
            </a:r>
            <a:r>
              <a:rPr lang="en-US" altLang="zh-CN"/>
              <a:t>mnb.ts</a:t>
            </a:r>
            <a:r>
              <a:rPr lang="zh-CN" altLang="en-US"/>
              <a:t>。</a:t>
            </a:r>
            <a:r>
              <a:rPr lang="en-US" altLang="zh-CN"/>
              <a:t>MNB</a:t>
            </a:r>
            <a:r>
              <a:rPr lang="zh-CN" altLang="en-US"/>
              <a:t>学习正负中三类，混合由同方面证据后处理得到。</a:t>
            </a:r>
            <a:r>
              <a:rPr lang="en-US" altLang="zh-CN"/>
              <a:t>pure MNB</a:t>
            </a:r>
            <a:r>
              <a:rPr lang="zh-CN" altLang="en-US"/>
              <a:t>对照保留方面词典而关闭情感规则。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107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docs/</a:t>
            </a:r>
            <a:r>
              <a:rPr lang="zh-CN" altLang="en-US"/>
              <a:t>课程报告</a:t>
            </a:r>
            <a:r>
              <a:rPr lang="en-US" altLang="zh-CN"/>
              <a:t>.md </a:t>
            </a:r>
            <a:r>
              <a:rPr lang="zh-CN" altLang="en-US"/>
              <a:t>第</a:t>
            </a:r>
            <a:r>
              <a:rPr lang="en-US" altLang="zh-CN"/>
              <a:t>3.5</a:t>
            </a:r>
            <a:r>
              <a:rPr lang="zh-CN" altLang="en-US"/>
              <a:t>、</a:t>
            </a:r>
            <a:r>
              <a:rPr lang="en-US" altLang="zh-CN"/>
              <a:t>3.7</a:t>
            </a:r>
            <a:r>
              <a:rPr lang="zh-CN" altLang="en-US"/>
              <a:t>、</a:t>
            </a:r>
            <a:r>
              <a:rPr lang="en-US" altLang="zh-CN"/>
              <a:t>3.8</a:t>
            </a:r>
            <a:r>
              <a:rPr lang="zh-CN" altLang="en-US"/>
              <a:t>、</a:t>
            </a:r>
            <a:r>
              <a:rPr lang="en-US" altLang="zh-CN"/>
              <a:t>3.9</a:t>
            </a:r>
            <a:r>
              <a:rPr lang="zh-CN" altLang="en-US"/>
              <a:t>节。</a:t>
            </a:r>
            <a:r>
              <a:rPr lang="en-US" altLang="zh-CN"/>
              <a:t>models</a:t>
            </a:r>
            <a:r>
              <a:rPr lang="zh-CN" altLang="en-US"/>
              <a:t>的</a:t>
            </a:r>
            <a:r>
              <a:rPr lang="en-US" altLang="zh-CN"/>
              <a:t>spanId</a:t>
            </a:r>
            <a:r>
              <a:rPr lang="zh-CN" altLang="en-US"/>
              <a:t>恢复由服务器完成。语义调用最多两次、总限时</a:t>
            </a:r>
            <a:r>
              <a:rPr lang="en-US" altLang="zh-CN"/>
              <a:t>180</a:t>
            </a:r>
            <a:r>
              <a:rPr lang="zh-CN" altLang="en-US"/>
              <a:t>秒。当前同版本</a:t>
            </a:r>
            <a:r>
              <a:rPr lang="en-US" altLang="zh-CN"/>
              <a:t>upsert</a:t>
            </a:r>
            <a:r>
              <a:rPr lang="zh-CN" altLang="en-US"/>
              <a:t>，不保留该版本每一次推理快照。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989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docs/</a:t>
            </a:r>
            <a:r>
              <a:rPr lang="zh-CN" altLang="en-US"/>
              <a:t>实验结果</a:t>
            </a:r>
            <a:r>
              <a:rPr lang="en-US" altLang="zh-CN"/>
              <a:t>/</a:t>
            </a:r>
            <a:r>
              <a:rPr lang="zh-CN" altLang="en-US"/>
              <a:t>模型对照结果</a:t>
            </a:r>
            <a:r>
              <a:rPr lang="en-US" altLang="zh-CN"/>
              <a:t>.json</a:t>
            </a:r>
            <a:r>
              <a:rPr lang="zh-CN" altLang="en-US"/>
              <a:t>、</a:t>
            </a:r>
            <a:r>
              <a:rPr lang="en-US" altLang="zh-CN"/>
              <a:t>docs/</a:t>
            </a:r>
            <a:r>
              <a:rPr lang="zh-CN" altLang="en-US"/>
              <a:t>课程报告</a:t>
            </a:r>
            <a:r>
              <a:rPr lang="en-US" altLang="zh-CN"/>
              <a:t>.md </a:t>
            </a:r>
            <a:r>
              <a:rPr lang="zh-CN" altLang="en-US"/>
              <a:t>第</a:t>
            </a:r>
            <a:r>
              <a:rPr lang="en-US" altLang="zh-CN"/>
              <a:t>5.2</a:t>
            </a:r>
            <a:r>
              <a:rPr lang="zh-CN" altLang="en-US"/>
              <a:t>节。</a:t>
            </a:r>
            <a:r>
              <a:rPr lang="en-US" altLang="zh-CN"/>
              <a:t>42</a:t>
            </a:r>
            <a:r>
              <a:rPr lang="zh-CN" altLang="en-US"/>
              <a:t>条人工合成检查集，</a:t>
            </a:r>
            <a:r>
              <a:rPr lang="en-US" altLang="zh-CN"/>
              <a:t>51</a:t>
            </a:r>
            <a:r>
              <a:rPr lang="zh-CN" altLang="en-US"/>
              <a:t>个参考方面情感对。</a:t>
            </a:r>
            <a:r>
              <a:rPr lang="en-US" altLang="zh-CN"/>
              <a:t>Qwen</a:t>
            </a:r>
            <a:r>
              <a:rPr lang="zh-CN" altLang="en-US"/>
              <a:t>为</a:t>
            </a:r>
            <a:r>
              <a:rPr lang="en-US" altLang="zh-CN"/>
              <a:t>absa-v2</a:t>
            </a:r>
            <a:r>
              <a:rPr lang="zh-CN" altLang="en-US"/>
              <a:t>历史结果，当前线上</a:t>
            </a:r>
            <a:r>
              <a:rPr lang="en-US" altLang="zh-CN"/>
              <a:t>absa-v4</a:t>
            </a:r>
            <a:r>
              <a:rPr lang="zh-CN" altLang="en-US"/>
              <a:t>未完成真实金标准评估。表中百分比保留两位。纯</a:t>
            </a:r>
            <a:r>
              <a:rPr lang="en-US" altLang="zh-CN"/>
              <a:t>MNB</a:t>
            </a:r>
            <a:r>
              <a:rPr lang="zh-CN" altLang="en-US"/>
              <a:t>的方面识别仍使用词典。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962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docs/</a:t>
            </a:r>
            <a:r>
              <a:rPr lang="zh-CN" altLang="en-US"/>
              <a:t>课程报告</a:t>
            </a:r>
            <a:r>
              <a:rPr lang="en-US" altLang="zh-CN"/>
              <a:t>.md </a:t>
            </a:r>
            <a:r>
              <a:rPr lang="zh-CN" altLang="en-US"/>
              <a:t>第</a:t>
            </a:r>
            <a:r>
              <a:rPr lang="en-US" altLang="zh-CN"/>
              <a:t>4.1</a:t>
            </a:r>
            <a:r>
              <a:rPr lang="zh-CN" altLang="en-US"/>
              <a:t>、</a:t>
            </a:r>
            <a:r>
              <a:rPr lang="en-US" altLang="zh-CN"/>
              <a:t>4.2</a:t>
            </a:r>
            <a:r>
              <a:rPr lang="zh-CN" altLang="en-US"/>
              <a:t>节。前端通过</a:t>
            </a:r>
            <a:r>
              <a:rPr lang="en-US" altLang="zh-CN"/>
              <a:t>JSON API</a:t>
            </a:r>
            <a:r>
              <a:rPr lang="zh-CN" altLang="en-US"/>
              <a:t>访问后端。图示功能模块属于同一个后端应用，不是独立微服务。</a:t>
            </a:r>
            <a:r>
              <a:rPr lang="en-US" altLang="zh-CN"/>
              <a:t>NLP</a:t>
            </a:r>
            <a:r>
              <a:rPr lang="zh-CN" altLang="en-US"/>
              <a:t>模块不依赖</a:t>
            </a:r>
            <a:r>
              <a:rPr lang="en-US" altLang="zh-CN"/>
              <a:t>Web/API/</a:t>
            </a:r>
            <a:r>
              <a:rPr lang="zh-CN" altLang="en-US"/>
              <a:t>数据库。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891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来源：当前</a:t>
            </a:r>
            <a:r>
              <a:rPr lang="en-US" altLang="zh-CN"/>
              <a:t>/collect</a:t>
            </a:r>
            <a:r>
              <a:rPr lang="zh-CN" altLang="en-US"/>
              <a:t>页面，</a:t>
            </a:r>
            <a:r>
              <a:rPr lang="en-US" altLang="zh-CN"/>
              <a:t>browser-collector.ts</a:t>
            </a:r>
            <a:r>
              <a:rPr lang="zh-CN" altLang="en-US"/>
              <a:t>与</a:t>
            </a:r>
            <a:r>
              <a:rPr lang="en-US" altLang="zh-CN"/>
              <a:t>browser-review-navigation.ts</a:t>
            </a:r>
            <a:r>
              <a:rPr lang="zh-CN" altLang="en-US"/>
              <a:t>。截图只填写商品，不启动新任务。当前辅助采集自动进入评价区、滚动或翻页，满额后生成</a:t>
            </a:r>
            <a:r>
              <a:rPr lang="en-US" altLang="zh-CN"/>
              <a:t>CSV</a:t>
            </a:r>
            <a:r>
              <a:rPr lang="zh-CN" altLang="en-US"/>
              <a:t>。登录或验证仍需用户正常完成。没有更多评论时保存部分结果。历史</a:t>
            </a:r>
            <a:r>
              <a:rPr lang="en-US" altLang="zh-CN"/>
              <a:t>FreeBuds 6i</a:t>
            </a:r>
            <a:r>
              <a:rPr lang="zh-CN" altLang="en-US"/>
              <a:t>任务</a:t>
            </a:r>
            <a:r>
              <a:rPr lang="en-US" altLang="zh-CN"/>
              <a:t>19</a:t>
            </a:r>
            <a:r>
              <a:rPr lang="zh-CN" altLang="en-US"/>
              <a:t>达到</a:t>
            </a:r>
            <a:r>
              <a:rPr lang="en-US" altLang="zh-CN"/>
              <a:t>50/50</a:t>
            </a:r>
            <a:r>
              <a:rPr lang="zh-CN" altLang="en-US"/>
              <a:t>，见</a:t>
            </a:r>
            <a:r>
              <a:rPr lang="en-US" altLang="zh-CN"/>
              <a:t>docs/</a:t>
            </a:r>
            <a:r>
              <a:rPr lang="zh-CN" altLang="en-US"/>
              <a:t>实验结果</a:t>
            </a:r>
            <a:r>
              <a:rPr lang="en-US" altLang="zh-CN"/>
              <a:t>/FreeBuds6i</a:t>
            </a:r>
            <a:r>
              <a:rPr lang="zh-CN" altLang="en-US"/>
              <a:t>自动采集修复实测</a:t>
            </a:r>
            <a:r>
              <a:rPr lang="en-US" altLang="zh-CN"/>
              <a:t>.json</a:t>
            </a:r>
            <a:r>
              <a:rPr lang="zh-CN" altLang="en-US"/>
              <a:t>。</a:t>
            </a:r>
          </a:p>
          <a:p>
            <a:r>
              <a:rPr lang="zh-CN" altLang="en-US"/>
              <a:t>截图来源：</a:t>
            </a:r>
            <a:r>
              <a:rPr lang="en-US" altLang="zh-CN"/>
              <a:t>http://127.0.0.1:3001/collect</a:t>
            </a:r>
            <a:r>
              <a:rPr lang="zh-CN" altLang="en-US"/>
              <a:t>，本机真实数据库。截图日期：</a:t>
            </a:r>
            <a:r>
              <a:rPr lang="en-US" altLang="zh-CN"/>
              <a:t>2026-10-14</a:t>
            </a:r>
            <a:r>
              <a:rPr lang="zh-CN" altLang="en-US"/>
              <a:t>。</a:t>
            </a:r>
          </a:p>
          <a:p>
            <a:r>
              <a:rPr lang="zh-CN" altLang="en-US"/>
              <a:t>放映操作：每次单击空白区域，按编号显示功能框选和旁注。框选与旁注为同一进入动画组。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070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来源：当前</a:t>
            </a:r>
            <a:r>
              <a:rPr lang="en-US" altLang="zh-CN"/>
              <a:t>/data</a:t>
            </a:r>
            <a:r>
              <a:rPr lang="zh-CN" altLang="en-US"/>
              <a:t>页面及</a:t>
            </a:r>
            <a:r>
              <a:rPr lang="en-US" altLang="zh-CN"/>
              <a:t>data/raw/jd-100130785706-automatic-50.csv</a:t>
            </a:r>
            <a:r>
              <a:rPr lang="zh-CN" altLang="en-US"/>
              <a:t>。截图只载入与映射，不提交。讲解：用户先校验预览，确认有效与重复数量，再导入并开始分析。上传</a:t>
            </a:r>
            <a:r>
              <a:rPr lang="en-US" altLang="zh-CN"/>
              <a:t>CSV</a:t>
            </a:r>
            <a:r>
              <a:rPr lang="zh-CN" altLang="en-US"/>
              <a:t>不会触发训练。</a:t>
            </a:r>
          </a:p>
          <a:p>
            <a:r>
              <a:rPr lang="zh-CN" altLang="en-US"/>
              <a:t>截图来源：</a:t>
            </a:r>
            <a:r>
              <a:rPr lang="en-US" altLang="zh-CN"/>
              <a:t>http://127.0.0.1:3001/data</a:t>
            </a:r>
            <a:r>
              <a:rPr lang="zh-CN" altLang="en-US"/>
              <a:t>，本机真实数据库。截图日期：</a:t>
            </a:r>
            <a:r>
              <a:rPr lang="en-US" altLang="zh-CN"/>
              <a:t>2026-10-14</a:t>
            </a:r>
            <a:r>
              <a:rPr lang="zh-CN" altLang="en-US"/>
              <a:t>。</a:t>
            </a:r>
          </a:p>
          <a:p>
            <a:r>
              <a:rPr lang="zh-CN" altLang="en-US"/>
              <a:t>放映操作：每次单击空白区域，按编号显示功能框选和旁注。框选与旁注为同一进入动画组。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0386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来源：当前</a:t>
            </a:r>
            <a:r>
              <a:rPr lang="en-US" altLang="zh-CN"/>
              <a:t>/data</a:t>
            </a:r>
            <a:r>
              <a:rPr lang="zh-CN" altLang="en-US"/>
              <a:t>页面</a:t>
            </a:r>
            <a:r>
              <a:rPr lang="en-US" altLang="zh-CN"/>
              <a:t>AnalysisTasks</a:t>
            </a:r>
            <a:r>
              <a:rPr lang="zh-CN" altLang="en-US"/>
              <a:t>。</a:t>
            </a:r>
            <a:r>
              <a:rPr lang="en-US" altLang="zh-CN"/>
              <a:t>processed</a:t>
            </a:r>
            <a:r>
              <a:rPr lang="zh-CN" altLang="en-US"/>
              <a:t>统计已尝试，包括成功失败。服务重启中断需重试，重试保留任务历史但仍运行整个批次。截图为实际任务状态，不是本次重新运行。</a:t>
            </a:r>
          </a:p>
          <a:p>
            <a:r>
              <a:rPr lang="zh-CN" altLang="en-US"/>
              <a:t>截图来源：</a:t>
            </a:r>
            <a:r>
              <a:rPr lang="en-US" altLang="zh-CN"/>
              <a:t>http://127.0.0.1:3001/data</a:t>
            </a:r>
            <a:r>
              <a:rPr lang="zh-CN" altLang="en-US"/>
              <a:t>，本机真实数据库。截图日期：</a:t>
            </a:r>
            <a:r>
              <a:rPr lang="en-US" altLang="zh-CN"/>
              <a:t>2026-10-14</a:t>
            </a:r>
            <a:r>
              <a:rPr lang="zh-CN" altLang="en-US"/>
              <a:t>。</a:t>
            </a:r>
          </a:p>
          <a:p>
            <a:r>
              <a:rPr lang="zh-CN" altLang="en-US"/>
              <a:t>放映操作：每次单击空白区域，按编号显示功能框选和旁注。框选与旁注为同一进入动画组。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0671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来源：当前首页、</a:t>
            </a:r>
            <a:r>
              <a:rPr lang="en-US" altLang="zh-CN"/>
              <a:t>ProductOverview</a:t>
            </a:r>
            <a:r>
              <a:rPr lang="zh-CN" altLang="en-US"/>
              <a:t>、</a:t>
            </a:r>
            <a:r>
              <a:rPr lang="en-US" altLang="zh-CN"/>
              <a:t>product-statistics</a:t>
            </a:r>
            <a:r>
              <a:rPr lang="zh-CN" altLang="en-US"/>
              <a:t>。截图选择小米耳夹式耳机。环图分母为已判定的方面评价总数，非评论总数。未提及和待复核不进入分母。显示内容来自模型结果，不等于人工准确率。</a:t>
            </a:r>
          </a:p>
          <a:p>
            <a:r>
              <a:rPr lang="zh-CN" altLang="en-US"/>
              <a:t>截图来源：</a:t>
            </a:r>
            <a:r>
              <a:rPr lang="en-US" altLang="zh-CN"/>
              <a:t>http://127.0.0.1:3001/</a:t>
            </a:r>
            <a:r>
              <a:rPr lang="zh-CN" altLang="en-US"/>
              <a:t>，本机真实数据库。截图日期：</a:t>
            </a:r>
            <a:r>
              <a:rPr lang="en-US" altLang="zh-CN"/>
              <a:t>2026-10-14</a:t>
            </a:r>
            <a:r>
              <a:rPr lang="zh-CN" altLang="en-US"/>
              <a:t>。</a:t>
            </a:r>
          </a:p>
          <a:p>
            <a:r>
              <a:rPr lang="zh-CN" altLang="en-US"/>
              <a:t>放映操作：每次单击空白区域，按编号显示功能框选和旁注。框选与旁注为同一进入动画组。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226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来源：当前</a:t>
            </a:r>
            <a:r>
              <a:rPr lang="en-US" altLang="zh-CN"/>
              <a:t>/products</a:t>
            </a:r>
            <a:r>
              <a:rPr lang="zh-CN" altLang="en-US"/>
              <a:t>真实评论页、</a:t>
            </a:r>
            <a:r>
              <a:rPr lang="en-US" altLang="zh-CN"/>
              <a:t>ReviewList</a:t>
            </a:r>
            <a:r>
              <a:rPr lang="zh-CN" altLang="en-US"/>
              <a:t>、</a:t>
            </a:r>
            <a:r>
              <a:rPr lang="en-US" altLang="zh-CN"/>
              <a:t>ReviewRepository</a:t>
            </a:r>
            <a:r>
              <a:rPr lang="zh-CN" altLang="en-US"/>
              <a:t>。截图为真实原文和当前预测结果，展开未提交的人工复核表单。人工修改追加记录并绑定模型版本，纯模型视图保留原始预测。当前截图未提交任何修订。</a:t>
            </a:r>
          </a:p>
          <a:p>
            <a:r>
              <a:rPr lang="zh-CN" altLang="en-US"/>
              <a:t>截图来源：</a:t>
            </a:r>
            <a:r>
              <a:rPr lang="en-US" altLang="zh-CN"/>
              <a:t>http://127.0.0.1:3001/products</a:t>
            </a:r>
            <a:r>
              <a:rPr lang="zh-CN" altLang="en-US"/>
              <a:t>，本机真实数据库。截图日期：</a:t>
            </a:r>
            <a:r>
              <a:rPr lang="en-US" altLang="zh-CN"/>
              <a:t>2026-10-14</a:t>
            </a:r>
            <a:r>
              <a:rPr lang="zh-CN" altLang="en-US"/>
              <a:t>。</a:t>
            </a:r>
          </a:p>
          <a:p>
            <a:r>
              <a:rPr lang="zh-CN" altLang="en-US"/>
              <a:t>放映操作：每次单击空白区域，按编号显示功能框选和旁注。框选与旁注为同一进入动画组。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3074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来源：当前</a:t>
            </a:r>
            <a:r>
              <a:rPr lang="en-US" altLang="zh-CN"/>
              <a:t>/compare</a:t>
            </a:r>
            <a:r>
              <a:rPr lang="zh-CN" altLang="en-US"/>
              <a:t>页面，华为</a:t>
            </a:r>
            <a:r>
              <a:rPr lang="en-US" altLang="zh-CN"/>
              <a:t>FreeClip</a:t>
            </a:r>
            <a:r>
              <a:rPr lang="zh-CN" altLang="en-US"/>
              <a:t>与小米耳夹式耳机。截图截取表格上部，保留真实数据、样本量与复核状态。不可把采样评论占比当作平台总体好评率或耳机性能，不生成无证据的总排名。</a:t>
            </a:r>
          </a:p>
          <a:p>
            <a:r>
              <a:rPr lang="zh-CN" altLang="en-US"/>
              <a:t>截图来源：</a:t>
            </a:r>
            <a:r>
              <a:rPr lang="en-US" altLang="zh-CN"/>
              <a:t>http://127.0.0.1:3001/compare</a:t>
            </a:r>
            <a:r>
              <a:rPr lang="zh-CN" altLang="en-US"/>
              <a:t>，本机真实数据库。截图日期：</a:t>
            </a:r>
            <a:r>
              <a:rPr lang="en-US" altLang="zh-CN"/>
              <a:t>2026-10-14</a:t>
            </a:r>
            <a:r>
              <a:rPr lang="zh-CN" altLang="en-US"/>
              <a:t>。</a:t>
            </a:r>
          </a:p>
          <a:p>
            <a:r>
              <a:rPr lang="zh-CN" altLang="en-US"/>
              <a:t>放映操作：每次单击空白区域，按编号显示功能框选和旁注。框选与旁注为同一进入动画组。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2741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docs/</a:t>
            </a:r>
            <a:r>
              <a:rPr lang="zh-CN" altLang="en-US"/>
              <a:t>实验结果</a:t>
            </a:r>
            <a:r>
              <a:rPr lang="en-US" altLang="zh-CN"/>
              <a:t>/</a:t>
            </a:r>
            <a:r>
              <a:rPr lang="zh-CN" altLang="en-US"/>
              <a:t>系统功能验证汇总</a:t>
            </a:r>
            <a:r>
              <a:rPr lang="en-US" altLang="zh-CN"/>
              <a:t>.json</a:t>
            </a:r>
            <a:r>
              <a:rPr lang="zh-CN" altLang="en-US"/>
              <a:t>、</a:t>
            </a:r>
            <a:r>
              <a:rPr lang="en-US" altLang="zh-CN"/>
              <a:t>docs/</a:t>
            </a:r>
            <a:r>
              <a:rPr lang="zh-CN" altLang="en-US"/>
              <a:t>架构图</a:t>
            </a:r>
            <a:r>
              <a:rPr lang="en-US" altLang="zh-CN"/>
              <a:t>/</a:t>
            </a:r>
            <a:r>
              <a:rPr lang="zh-CN" altLang="en-US"/>
              <a:t>架构检查指标</a:t>
            </a:r>
            <a:r>
              <a:rPr lang="en-US" altLang="zh-CN"/>
              <a:t>.json</a:t>
            </a:r>
            <a:r>
              <a:rPr lang="zh-CN" altLang="en-US"/>
              <a:t>、</a:t>
            </a:r>
            <a:r>
              <a:rPr lang="en-US" altLang="zh-CN"/>
              <a:t>docs/</a:t>
            </a:r>
            <a:r>
              <a:rPr lang="zh-CN" altLang="en-US"/>
              <a:t>课程报告</a:t>
            </a:r>
            <a:r>
              <a:rPr lang="en-US" altLang="zh-CN"/>
              <a:t>.md</a:t>
            </a:r>
            <a:r>
              <a:rPr lang="zh-CN" altLang="en-US"/>
              <a:t>。</a:t>
            </a:r>
            <a:r>
              <a:rPr lang="en-US" altLang="zh-CN"/>
              <a:t>50</a:t>
            </a:r>
            <a:r>
              <a:rPr lang="zh-CN" altLang="en-US"/>
              <a:t>核心与</a:t>
            </a:r>
            <a:r>
              <a:rPr lang="en-US" altLang="zh-CN"/>
              <a:t>13E2E</a:t>
            </a:r>
            <a:r>
              <a:rPr lang="zh-CN" altLang="en-US"/>
              <a:t>为已归档回归记录，非此次制作</a:t>
            </a:r>
            <a:r>
              <a:rPr lang="en-US" altLang="zh-CN"/>
              <a:t>PPT</a:t>
            </a:r>
            <a:r>
              <a:rPr lang="zh-CN" altLang="en-US"/>
              <a:t>新增测试。结构扫描范围无循环与直接</a:t>
            </a:r>
            <a:r>
              <a:rPr lang="en-US" altLang="zh-CN"/>
              <a:t>SQL</a:t>
            </a:r>
            <a:r>
              <a:rPr lang="zh-CN" altLang="en-US"/>
              <a:t>，不代表全系统绝对零耦合或内聚百分比。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136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docs/</a:t>
            </a:r>
            <a:r>
              <a:rPr lang="zh-CN" altLang="en-US"/>
              <a:t>课程报告</a:t>
            </a:r>
            <a:r>
              <a:rPr lang="en-US" altLang="zh-CN"/>
              <a:t>.md</a:t>
            </a:r>
            <a:r>
              <a:rPr lang="zh-CN" altLang="en-US"/>
              <a:t>。已实现评论采集</a:t>
            </a:r>
            <a:r>
              <a:rPr lang="en-US" altLang="zh-CN"/>
              <a:t>/</a:t>
            </a:r>
            <a:r>
              <a:rPr lang="zh-CN" altLang="en-US"/>
              <a:t>上传、校验、批量推理、证据恢复、版本化保存、统计展示、人工复核。拟定真实金标准</a:t>
            </a:r>
            <a:r>
              <a:rPr lang="en-US" altLang="zh-CN"/>
              <a:t>pair micro-F1</a:t>
            </a:r>
            <a:r>
              <a:rPr lang="zh-CN" altLang="en-US"/>
              <a:t>至少</a:t>
            </a:r>
            <a:r>
              <a:rPr lang="en-US" altLang="zh-CN"/>
              <a:t>0.80</a:t>
            </a:r>
            <a:r>
              <a:rPr lang="zh-CN" altLang="en-US"/>
              <a:t>与</a:t>
            </a:r>
            <a:r>
              <a:rPr lang="en-US" altLang="zh-CN"/>
              <a:t>macro-F1</a:t>
            </a:r>
            <a:r>
              <a:rPr lang="zh-CN" altLang="en-US"/>
              <a:t>至少</a:t>
            </a:r>
            <a:r>
              <a:rPr lang="en-US" altLang="zh-CN"/>
              <a:t>0.75</a:t>
            </a:r>
            <a:r>
              <a:rPr lang="zh-CN" altLang="en-US"/>
              <a:t>尚未验收，并非标准强制指标。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18A35-738B-4D7A-947E-D6295CCB6C7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186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5E7B30-7B94-09ED-F844-B4B4D5CE2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2B6DC2-7AF6-DC10-97EF-ECFAE8C3AE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9C8387-3A84-6485-9046-86C6EAEA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6862-2ADB-4F1E-B29E-28FCDF1E08F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3F497-2971-BB31-8B68-A8878F83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8BFE9F-B56E-1D2E-A265-8330E660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4A8F-10D5-4576-9EDC-8EF5534943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01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707609-EE87-990E-6F95-714D0C28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6C43D2-6419-05D6-936E-C9DE97502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A79C47-FA1E-6948-51D0-7C12B9A70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6862-2ADB-4F1E-B29E-28FCDF1E08F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7187C9-F82D-BB94-D952-2B8A67F8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7B464F-BB06-CB62-EE33-B269F3ECA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4A8F-10D5-4576-9EDC-8EF5534943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669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8813F2-B6A9-161A-52F3-91FEFE5B9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55F26D-E1E7-9A0C-472E-17356288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EFE9CA-5A34-3ECA-7ECD-84CCBEF5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6862-2ADB-4F1E-B29E-28FCDF1E08F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1CAAA5-A9FA-F8CE-2BEF-0C14F654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52BF70-DB6A-434D-C762-DDDDB124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4A8F-10D5-4576-9EDC-8EF5534943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661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2D53F-A6E8-406C-5AF0-2112C496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1D02F2-1EEE-0E23-61F9-27567202A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FE549C-092E-E559-C5B9-0E30ABC0B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F4FCC2-ED6B-C15C-21AE-BA273383C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6862-2ADB-4F1E-B29E-28FCDF1E08F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3C1ADB-A748-7E4B-75FC-23F767F76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E85962-3DF6-82DD-8483-B4463F180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4A8F-10D5-4576-9EDC-8EF5534943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0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5DF52-F282-200B-777F-4A1E44AE1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88107C-8333-587B-FC73-B483A9178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CEC018-A78A-D851-0F8F-99487A417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4C202C-0AEE-0A0A-32C3-0DC071C43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67378D-2E41-B9ED-80F0-91E1B15F8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A012104-3800-DD35-6487-3416B07A2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6862-2ADB-4F1E-B29E-28FCDF1E08F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7583FB-1DD1-FE3C-0D7E-9CFBC7E86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29DB50-2114-A3D9-474A-2B41D832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4A8F-10D5-4576-9EDC-8EF5534943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46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F68175-3D96-A077-DD8A-1E8103EF9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49CFCB-496C-8A71-8E1A-49BD0E66D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6862-2ADB-4F1E-B29E-28FCDF1E08F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4C24E8-F1D5-B6F1-DBEE-81A601FA0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68443F-74AA-E905-FF03-BBE0E724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4A8F-10D5-4576-9EDC-8EF5534943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14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C09098-141A-245A-1414-2F39734E8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6862-2ADB-4F1E-B29E-28FCDF1E08F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356D51-1B93-8B53-8754-302576DFE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96E162-2EDB-34D5-3C85-7336C2A4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4A8F-10D5-4576-9EDC-8EF5534943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71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555AE-934D-2E24-6D7D-CC308D11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F4BA11-6057-8742-4DD2-489A8A2AC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4F4616-1832-6972-C230-22D8A64DA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8915AC-A216-CA56-62A8-01C899042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6862-2ADB-4F1E-B29E-28FCDF1E08F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7C9BF6-37C7-DA80-34DF-26808358C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531391-189B-82B3-A2A1-4854235E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4A8F-10D5-4576-9EDC-8EF5534943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857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B5E3A-D370-9A6A-C4EB-DF3E59303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74E3B1B-9F45-7C67-81E6-0B9B5924E70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C7C32F-5867-1D94-FAC9-8453A2A44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0E19AD-2F82-25BD-EF85-E1FA079A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6862-2ADB-4F1E-B29E-28FCDF1E08F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DC5CCB-293B-9E70-3E5E-F8AA1F830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75D301-A731-290E-096C-4EA28CC18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4A8F-10D5-4576-9EDC-8EF5534943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085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53CCB-179F-D355-1DF1-4558BFDDB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7FD575-7FD1-6EAB-121C-0F1A3075B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9230C3-E0B1-15E9-7149-5F1357A0B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6862-2ADB-4F1E-B29E-28FCDF1E08F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E38C98-EE54-4175-4393-B424DA24E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BF1725-895E-7051-07FB-62E8356D0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4A8F-10D5-4576-9EDC-8EF5534943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690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172FE57-2F0B-1FE9-7192-FC4EB5373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EA2D9E-C94D-51ED-AB0F-5CD5569E1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563D0E-7D92-9448-530C-5FA92D3C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66862-2ADB-4F1E-B29E-28FCDF1E08F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F8D5D-99C6-DA87-2C73-B5C69FCF2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D08F5E-AEEC-517F-FC5E-332FB1A2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F4A8F-10D5-4576-9EDC-8EF5534943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26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94F7F9A-67E4-0CC2-9670-73850369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C1B5AB-31DD-969F-740F-4E90B6810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83ACEC-AA7E-8038-A791-77B0B78ED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66862-2ADB-4F1E-B29E-28FCDF1E08F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89CD3F-7240-B101-570D-B3BC756CDE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CBC8AC-FED4-05E8-C49F-9A6FD2E5E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F4A8F-10D5-4576-9EDC-8EF5534943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83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561106F-A8C1-5087-2FB9-0B8848CE7548}"/>
              </a:ext>
            </a:extLst>
          </p:cNvPr>
          <p:cNvSpPr txBox="1"/>
          <p:nvPr/>
        </p:nvSpPr>
        <p:spPr>
          <a:xfrm>
            <a:off x="558800" y="1498599"/>
            <a:ext cx="11074400" cy="165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43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蓝牙耳机评论的方面级情感分析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89D29BA-1A76-48A3-E2FB-1B41F101B682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21454B3E-23EF-C5B2-D72C-C9B52F39AF6C}"/>
              </a:ext>
            </a:extLst>
          </p:cNvPr>
          <p:cNvSpPr txBox="1"/>
          <p:nvPr/>
        </p:nvSpPr>
        <p:spPr>
          <a:xfrm>
            <a:off x="558800" y="3606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7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数据准备、双模型方法与系统实现</a:t>
            </a:r>
          </a:p>
        </p:txBody>
      </p:sp>
      <p:sp>
        <p:nvSpPr>
          <p:cNvPr id="5" name="CoverDate">
            <a:extLst>
              <a:ext uri="{FF2B5EF4-FFF2-40B4-BE49-F238E27FC236}">
                <a16:creationId xmlns:a16="http://schemas.microsoft.com/office/drawing/2014/main" id="{F5825300-1C93-5289-0A54-3BF71DD5AD4A}"/>
              </a:ext>
            </a:extLst>
          </p:cNvPr>
          <p:cNvSpPr txBox="1"/>
          <p:nvPr/>
        </p:nvSpPr>
        <p:spPr>
          <a:xfrm>
            <a:off x="558800" y="50546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项目技术演示   </a:t>
            </a:r>
            <a:r>
              <a:rPr lang="en-US" altLang="zh-CN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</a:t>
            </a:r>
            <a:r>
              <a:rPr lang="zh-CN" altLang="en-US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327330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94531E6-F590-0D2E-8D5A-73EFB1C4FF6F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任务定义与需求边界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AFB16614-9692-16F5-D6D6-D6F3E077E09F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Example">
            <a:extLst>
              <a:ext uri="{FF2B5EF4-FFF2-40B4-BE49-F238E27FC236}">
                <a16:creationId xmlns:a16="http://schemas.microsoft.com/office/drawing/2014/main" id="{5DB8114F-1C7D-0992-69F9-75F14EAB9FA9}"/>
              </a:ext>
            </a:extLst>
          </p:cNvPr>
          <p:cNvSpPr txBox="1"/>
          <p:nvPr/>
        </p:nvSpPr>
        <p:spPr>
          <a:xfrm>
            <a:off x="558800" y="1689100"/>
            <a:ext cx="1092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8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“音质清晰，但戴久了耳朵疼。”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18AAB611-2CDA-60A1-8D4D-5BC3265EBAF7}"/>
              </a:ext>
            </a:extLst>
          </p:cNvPr>
          <p:cNvSpPr txBox="1"/>
          <p:nvPr/>
        </p:nvSpPr>
        <p:spPr>
          <a:xfrm>
            <a:off x="558800" y="27686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4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音质：正面评价</a:t>
            </a:r>
          </a:p>
          <a:p>
            <a:pPr>
              <a:spcAft>
                <a:spcPts val="1000"/>
              </a:spcAft>
            </a:pPr>
            <a:r>
              <a:rPr lang="zh-CN" altLang="en-US" sz="24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佩戴舒适度：负面评价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9EF1971E-8C9D-4DCE-8470-5DFA07D30DB3}"/>
              </a:ext>
            </a:extLst>
          </p:cNvPr>
          <p:cNvSpPr txBox="1"/>
          <p:nvPr/>
        </p:nvSpPr>
        <p:spPr>
          <a:xfrm>
            <a:off x="6477000" y="26670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1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固定六方面</a:t>
            </a:r>
          </a:p>
          <a:p>
            <a:pPr>
              <a:spcAft>
                <a:spcPts val="1000"/>
              </a:spcAft>
            </a:pPr>
            <a:r>
              <a:rPr lang="zh-CN" altLang="en-US" sz="21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音质、降噪、佩戴、续航、通话、延迟</a:t>
            </a:r>
          </a:p>
          <a:p>
            <a:pPr>
              <a:spcAft>
                <a:spcPts val="1000"/>
              </a:spcAft>
            </a:pPr>
            <a:endParaRPr lang="zh-CN" altLang="en-US" sz="2100">
              <a:solidFill>
                <a:srgbClr val="172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zh-CN" altLang="en-US" sz="21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输出四类情感</a:t>
            </a:r>
          </a:p>
          <a:p>
            <a:pPr>
              <a:spcAft>
                <a:spcPts val="1000"/>
              </a:spcAft>
            </a:pPr>
            <a:r>
              <a:rPr lang="zh-CN" altLang="en-US" sz="21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正面、负面、中性、混合</a:t>
            </a:r>
          </a:p>
        </p:txBody>
      </p:sp>
      <p:sp>
        <p:nvSpPr>
          <p:cNvPr id="7" name="Context">
            <a:extLst>
              <a:ext uri="{FF2B5EF4-FFF2-40B4-BE49-F238E27FC236}">
                <a16:creationId xmlns:a16="http://schemas.microsoft.com/office/drawing/2014/main" id="{2E3B249D-8FBF-F419-BDBF-8115E7920125}"/>
              </a:ext>
            </a:extLst>
          </p:cNvPr>
          <p:cNvSpPr txBox="1"/>
          <p:nvPr/>
        </p:nvSpPr>
        <p:spPr>
          <a:xfrm>
            <a:off x="558800" y="5943600"/>
            <a:ext cx="1069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4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分析具体产品的中文文本评论。图片、声学性能测量与全平台全量评论不在本期范围内。</a:t>
            </a:r>
          </a:p>
        </p:txBody>
      </p:sp>
    </p:spTree>
    <p:extLst>
      <p:ext uri="{BB962C8B-B14F-4D97-AF65-F5344CB8AC3E}">
        <p14:creationId xmlns:p14="http://schemas.microsoft.com/office/powerpoint/2010/main" val="393507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80E9AB8-2680-88E8-4A04-879177A1AADE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数据准备与两种 </a:t>
            </a:r>
            <a:r>
              <a:rPr lang="en-US" altLang="zh-CN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CSV </a:t>
            </a: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用途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789AE478-72F4-AC35-A1AC-415DF30DBA6A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LeftTitle">
            <a:extLst>
              <a:ext uri="{FF2B5EF4-FFF2-40B4-BE49-F238E27FC236}">
                <a16:creationId xmlns:a16="http://schemas.microsoft.com/office/drawing/2014/main" id="{2702887D-8CF7-92DB-1F4B-90898A55704E}"/>
              </a:ext>
            </a:extLst>
          </p:cNvPr>
          <p:cNvSpPr txBox="1"/>
          <p:nvPr/>
        </p:nvSpPr>
        <p:spPr>
          <a:xfrm>
            <a:off x="558800" y="16891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7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业务评论 </a:t>
            </a:r>
            <a:r>
              <a:rPr lang="en-US" altLang="zh-CN" sz="27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CSV</a:t>
            </a:r>
            <a:endParaRPr lang="zh-CN" altLang="en-US" sz="2700" b="1">
              <a:solidFill>
                <a:srgbClr val="172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19219CE3-9CAE-220E-2BB1-A92824A2D079}"/>
              </a:ext>
            </a:extLst>
          </p:cNvPr>
          <p:cNvSpPr txBox="1"/>
          <p:nvPr/>
        </p:nvSpPr>
        <p:spPr>
          <a:xfrm>
            <a:off x="558800" y="26162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用户上传，或浏览器采集生成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需要评论正文与明确产品归属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保留来源、编号和原文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编码解码、字段映射、校验去重</a:t>
            </a:r>
          </a:p>
        </p:txBody>
      </p:sp>
      <p:sp>
        <p:nvSpPr>
          <p:cNvPr id="6" name="RightTitle">
            <a:extLst>
              <a:ext uri="{FF2B5EF4-FFF2-40B4-BE49-F238E27FC236}">
                <a16:creationId xmlns:a16="http://schemas.microsoft.com/office/drawing/2014/main" id="{3D8F376E-5C81-C718-E69F-AC691332A261}"/>
              </a:ext>
            </a:extLst>
          </p:cNvPr>
          <p:cNvSpPr txBox="1"/>
          <p:nvPr/>
        </p:nvSpPr>
        <p:spPr>
          <a:xfrm>
            <a:off x="6477000" y="16891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7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模型训练 </a:t>
            </a:r>
            <a:r>
              <a:rPr lang="en-US" altLang="zh-CN" sz="27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CSV</a:t>
            </a:r>
            <a:endParaRPr lang="zh-CN" altLang="en-US" sz="2700" b="1">
              <a:solidFill>
                <a:srgbClr val="172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B6BB4D6A-6C96-4B39-E0D4-232444ACCC87}"/>
              </a:ext>
            </a:extLst>
          </p:cNvPr>
          <p:cNvSpPr txBox="1"/>
          <p:nvPr/>
        </p:nvSpPr>
        <p:spPr>
          <a:xfrm>
            <a:off x="6477000" y="26162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包含方面、文本与人工情感标签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用于显式训练 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MNB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训练集与检查集分别保存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用户上传评论不会自动训练</a:t>
            </a:r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A8C2D52A-E586-DAAE-3D59-C9A3C79EEF5C}"/>
              </a:ext>
            </a:extLst>
          </p:cNvPr>
          <p:cNvSpPr txBox="1"/>
          <p:nvPr/>
        </p:nvSpPr>
        <p:spPr>
          <a:xfrm>
            <a:off x="558800" y="5943600"/>
            <a:ext cx="1069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4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 </a:t>
            </a:r>
            <a:r>
              <a:rPr lang="en-US" altLang="zh-CN" sz="14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MNB </a:t>
            </a:r>
            <a:r>
              <a:rPr lang="zh-CN" altLang="en-US" sz="14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使用合成标注样例。真实训练数据需先去重、分组划分并冻结独立测试集。</a:t>
            </a:r>
          </a:p>
        </p:txBody>
      </p:sp>
    </p:spTree>
    <p:extLst>
      <p:ext uri="{BB962C8B-B14F-4D97-AF65-F5344CB8AC3E}">
        <p14:creationId xmlns:p14="http://schemas.microsoft.com/office/powerpoint/2010/main" val="210222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210CA4-1160-3870-6BB1-767D699E2D02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评论处理的完整流程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4720AE-5509-8F2E-E6DB-0AA310B85368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802F90-AB51-13A6-9712-EE0A5082F4AF}"/>
              </a:ext>
            </a:extLst>
          </p:cNvPr>
          <p:cNvSpPr/>
          <p:nvPr/>
        </p:nvSpPr>
        <p:spPr>
          <a:xfrm>
            <a:off x="558800" y="2616200"/>
            <a:ext cx="1600200" cy="13335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5F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采集或上传</a:t>
            </a:r>
          </a:p>
          <a:p>
            <a:pPr algn="ctr"/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原始评论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5B4ACF2-C79E-6913-B54E-E285F17550E6}"/>
              </a:ext>
            </a:extLst>
          </p:cNvPr>
          <p:cNvCxnSpPr/>
          <p:nvPr/>
        </p:nvCxnSpPr>
        <p:spPr>
          <a:xfrm>
            <a:off x="2159000" y="3276600"/>
            <a:ext cx="203200" cy="0"/>
          </a:xfrm>
          <a:prstGeom prst="line">
            <a:avLst/>
          </a:prstGeom>
          <a:ln w="17780">
            <a:solidFill>
              <a:srgbClr val="395F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7F022D75-3656-31B5-CBFD-E8FB10D4CE5D}"/>
              </a:ext>
            </a:extLst>
          </p:cNvPr>
          <p:cNvSpPr/>
          <p:nvPr/>
        </p:nvSpPr>
        <p:spPr>
          <a:xfrm>
            <a:off x="2413000" y="2616200"/>
            <a:ext cx="1600200" cy="13335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5F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字段映射</a:t>
            </a:r>
          </a:p>
          <a:p>
            <a:pPr algn="ctr"/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校验与去重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C71AE6B-14F5-2FA0-4C98-3678763A7332}"/>
              </a:ext>
            </a:extLst>
          </p:cNvPr>
          <p:cNvCxnSpPr/>
          <p:nvPr/>
        </p:nvCxnSpPr>
        <p:spPr>
          <a:xfrm>
            <a:off x="4013200" y="3276600"/>
            <a:ext cx="203200" cy="0"/>
          </a:xfrm>
          <a:prstGeom prst="line">
            <a:avLst/>
          </a:prstGeom>
          <a:ln w="17780">
            <a:solidFill>
              <a:srgbClr val="395F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AD48838F-61CD-68D9-BF8D-709A6DE342E5}"/>
              </a:ext>
            </a:extLst>
          </p:cNvPr>
          <p:cNvSpPr/>
          <p:nvPr/>
        </p:nvSpPr>
        <p:spPr>
          <a:xfrm>
            <a:off x="4267200" y="2616200"/>
            <a:ext cx="1600200" cy="13335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5F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保存产品</a:t>
            </a:r>
          </a:p>
          <a:p>
            <a:pPr algn="ctr"/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与数据批次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C4A7B8A-EFCF-9BF7-C782-7B244BE62A67}"/>
              </a:ext>
            </a:extLst>
          </p:cNvPr>
          <p:cNvCxnSpPr/>
          <p:nvPr/>
        </p:nvCxnSpPr>
        <p:spPr>
          <a:xfrm>
            <a:off x="5867400" y="3276600"/>
            <a:ext cx="203200" cy="0"/>
          </a:xfrm>
          <a:prstGeom prst="line">
            <a:avLst/>
          </a:prstGeom>
          <a:ln w="17780">
            <a:solidFill>
              <a:srgbClr val="395F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45EBA108-1096-9B94-6998-63F35E093CE2}"/>
              </a:ext>
            </a:extLst>
          </p:cNvPr>
          <p:cNvSpPr/>
          <p:nvPr/>
        </p:nvSpPr>
        <p:spPr>
          <a:xfrm>
            <a:off x="6121400" y="2616200"/>
            <a:ext cx="1600200" cy="13335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5F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选择模型</a:t>
            </a:r>
          </a:p>
          <a:p>
            <a:pPr algn="ctr"/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批量分析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105F187-255A-2264-100D-1CE052A9543E}"/>
              </a:ext>
            </a:extLst>
          </p:cNvPr>
          <p:cNvCxnSpPr/>
          <p:nvPr/>
        </p:nvCxnSpPr>
        <p:spPr>
          <a:xfrm>
            <a:off x="7721600" y="3276600"/>
            <a:ext cx="203200" cy="0"/>
          </a:xfrm>
          <a:prstGeom prst="line">
            <a:avLst/>
          </a:prstGeom>
          <a:ln w="17780">
            <a:solidFill>
              <a:srgbClr val="395F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D5CC852A-092F-9C62-0C88-3125CFD280E2}"/>
              </a:ext>
            </a:extLst>
          </p:cNvPr>
          <p:cNvSpPr/>
          <p:nvPr/>
        </p:nvSpPr>
        <p:spPr>
          <a:xfrm>
            <a:off x="7975600" y="2616200"/>
            <a:ext cx="1600200" cy="13335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5F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校验证据</a:t>
            </a:r>
          </a:p>
          <a:p>
            <a:pPr algn="ctr"/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保存结果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2CA1482-AF11-668C-01E0-26759B58D78E}"/>
              </a:ext>
            </a:extLst>
          </p:cNvPr>
          <p:cNvCxnSpPr/>
          <p:nvPr/>
        </p:nvCxnSpPr>
        <p:spPr>
          <a:xfrm>
            <a:off x="9575800" y="3276600"/>
            <a:ext cx="203200" cy="0"/>
          </a:xfrm>
          <a:prstGeom prst="line">
            <a:avLst/>
          </a:prstGeom>
          <a:ln w="17780">
            <a:solidFill>
              <a:srgbClr val="395F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E7542D9D-BE2B-CE49-F596-1FB6BD68E3DE}"/>
              </a:ext>
            </a:extLst>
          </p:cNvPr>
          <p:cNvSpPr/>
          <p:nvPr/>
        </p:nvSpPr>
        <p:spPr>
          <a:xfrm>
            <a:off x="9829800" y="2616200"/>
            <a:ext cx="1600200" cy="13335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5F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统计查询</a:t>
            </a:r>
          </a:p>
          <a:p>
            <a:pPr algn="ctr"/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可视化复核</a:t>
            </a:r>
          </a:p>
        </p:txBody>
      </p:sp>
      <p:sp>
        <p:nvSpPr>
          <p:cNvPr id="15" name="Body">
            <a:extLst>
              <a:ext uri="{FF2B5EF4-FFF2-40B4-BE49-F238E27FC236}">
                <a16:creationId xmlns:a16="http://schemas.microsoft.com/office/drawing/2014/main" id="{B1C92A59-1FE5-D524-592E-9EB1A119E275}"/>
              </a:ext>
            </a:extLst>
          </p:cNvPr>
          <p:cNvSpPr txBox="1"/>
          <p:nvPr/>
        </p:nvSpPr>
        <p:spPr>
          <a:xfrm>
            <a:off x="558800" y="46482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两条模型路线共享同一种结果结构。</a:t>
            </a:r>
          </a:p>
          <a:p>
            <a:pPr>
              <a:spcAft>
                <a:spcPts val="1000"/>
              </a:spcAft>
            </a:pPr>
            <a:r>
              <a:rPr lang="zh-CN" altLang="en-US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每条结果记录产品、方面、情感、证据、状态与模型版本。</a:t>
            </a:r>
          </a:p>
        </p:txBody>
      </p:sp>
    </p:spTree>
    <p:extLst>
      <p:ext uri="{BB962C8B-B14F-4D97-AF65-F5344CB8AC3E}">
        <p14:creationId xmlns:p14="http://schemas.microsoft.com/office/powerpoint/2010/main" val="133020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C4CE1D4-F03B-33E7-9E8F-C6B044A08456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路线 </a:t>
            </a:r>
            <a:r>
              <a:rPr lang="en-US" altLang="zh-CN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：本地 </a:t>
            </a:r>
            <a:r>
              <a:rPr lang="en-US" altLang="zh-CN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Qwen3 </a:t>
            </a: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语义分析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F7EBA78-6018-84E1-1049-E252876DAEB9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86C8798-0851-ED28-661F-BC4882070E6B}"/>
              </a:ext>
            </a:extLst>
          </p:cNvPr>
          <p:cNvSpPr txBox="1"/>
          <p:nvPr/>
        </p:nvSpPr>
        <p:spPr>
          <a:xfrm>
            <a:off x="558800" y="1778000"/>
            <a:ext cx="723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 </a:t>
            </a:r>
            <a:r>
              <a:rPr lang="zh-CN" altLang="en-US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下载并加载预训练权重</a:t>
            </a:r>
          </a:p>
          <a:p>
            <a:pPr>
              <a:spcAft>
                <a:spcPts val="1000"/>
              </a:spcAft>
            </a:pPr>
            <a:r>
              <a:rPr lang="en-US" altLang="zh-CN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 </a:t>
            </a:r>
            <a:r>
              <a:rPr lang="zh-CN" altLang="en-US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将完整评论与证据片段编号交给模型</a:t>
            </a:r>
          </a:p>
          <a:p>
            <a:pPr>
              <a:spcAft>
                <a:spcPts val="1000"/>
              </a:spcAft>
            </a:pPr>
            <a:r>
              <a:rPr lang="en-US" altLang="zh-CN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 </a:t>
            </a:r>
            <a:r>
              <a:rPr lang="zh-CN" altLang="en-US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约束输出六方面及情感标签的 </a:t>
            </a:r>
            <a:r>
              <a:rPr lang="en-US" altLang="zh-CN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JSON</a:t>
            </a:r>
          </a:p>
          <a:p>
            <a:pPr>
              <a:spcAft>
                <a:spcPts val="1000"/>
              </a:spcAft>
            </a:pPr>
            <a:r>
              <a:rPr lang="en-US" altLang="zh-CN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 </a:t>
            </a:r>
            <a:r>
              <a:rPr lang="zh-CN" altLang="en-US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服务端恢复原文证据，验证格式与偏移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12474DC1-7232-21D3-F68B-92E0BAE95A24}"/>
              </a:ext>
            </a:extLst>
          </p:cNvPr>
          <p:cNvSpPr txBox="1"/>
          <p:nvPr/>
        </p:nvSpPr>
        <p:spPr>
          <a:xfrm>
            <a:off x="8432800" y="1943100"/>
            <a:ext cx="320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Qwen3:4b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 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亿参数</a:t>
            </a: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Q4_K_M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量化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权重约 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2.50 GB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 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Ollama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加载运行</a:t>
            </a:r>
          </a:p>
        </p:txBody>
      </p:sp>
      <p:sp>
        <p:nvSpPr>
          <p:cNvPr id="6" name="Context">
            <a:extLst>
              <a:ext uri="{FF2B5EF4-FFF2-40B4-BE49-F238E27FC236}">
                <a16:creationId xmlns:a16="http://schemas.microsoft.com/office/drawing/2014/main" id="{7B6D38E6-D1AB-459D-7B9E-2E693697A072}"/>
              </a:ext>
            </a:extLst>
          </p:cNvPr>
          <p:cNvSpPr txBox="1"/>
          <p:nvPr/>
        </p:nvSpPr>
        <p:spPr>
          <a:xfrm>
            <a:off x="558800" y="5943600"/>
            <a:ext cx="1069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4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预训练模型负责语义推理。历史实验使用本机 </a:t>
            </a:r>
            <a:r>
              <a:rPr lang="en-US" altLang="zh-CN" sz="14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GPU</a:t>
            </a:r>
            <a:r>
              <a:rPr lang="zh-CN" altLang="en-US" sz="14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，具体设备以 </a:t>
            </a:r>
            <a:r>
              <a:rPr lang="en-US" altLang="zh-CN" sz="14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Ollama </a:t>
            </a:r>
            <a:r>
              <a:rPr lang="zh-CN" altLang="en-US" sz="14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实际加载情况为准。</a:t>
            </a:r>
          </a:p>
        </p:txBody>
      </p:sp>
    </p:spTree>
    <p:extLst>
      <p:ext uri="{BB962C8B-B14F-4D97-AF65-F5344CB8AC3E}">
        <p14:creationId xmlns:p14="http://schemas.microsoft.com/office/powerpoint/2010/main" val="304977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9B00B0C-9FBF-953B-AF22-1F21A474A8F3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路线 </a:t>
            </a:r>
            <a:r>
              <a:rPr lang="en-US" altLang="zh-CN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MNB </a:t>
            </a: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分类器训练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6E2183BC-CDE3-ECFF-8E61-00A77572DC9E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124AA742-E460-D3AB-3F6C-1DE59E2F1BB4}"/>
              </a:ext>
            </a:extLst>
          </p:cNvPr>
          <p:cNvSpPr txBox="1"/>
          <p:nvPr/>
        </p:nvSpPr>
        <p:spPr>
          <a:xfrm>
            <a:off x="558800" y="1739900"/>
            <a:ext cx="723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 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aspect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text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label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标注样例</a:t>
            </a: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文本规范化，加入方面 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</a:t>
            </a: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提取字符 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3-gram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特征频数</a:t>
            </a: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按类别累计计数，使用加一平滑</a:t>
            </a: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保存词表、类别参数及数据版本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59FDBADE-BF2A-5124-67D3-90E056A02293}"/>
              </a:ext>
            </a:extLst>
          </p:cNvPr>
          <p:cNvSpPr txBox="1"/>
          <p:nvPr/>
        </p:nvSpPr>
        <p:spPr>
          <a:xfrm>
            <a:off x="8407400" y="1917700"/>
            <a:ext cx="320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126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条训练样例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每类 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42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</a:t>
            </a: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1172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项词表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参数文件约 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 KB</a:t>
            </a:r>
          </a:p>
          <a:p>
            <a:pPr>
              <a:spcAft>
                <a:spcPts val="1000"/>
              </a:spcAft>
            </a:pP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CPU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统计计数训练</a:t>
            </a:r>
          </a:p>
        </p:txBody>
      </p:sp>
      <p:sp>
        <p:nvSpPr>
          <p:cNvPr id="6" name="Context">
            <a:extLst>
              <a:ext uri="{FF2B5EF4-FFF2-40B4-BE49-F238E27FC236}">
                <a16:creationId xmlns:a16="http://schemas.microsoft.com/office/drawing/2014/main" id="{A92C97DC-8156-DAC8-D218-E46B1040AC28}"/>
              </a:ext>
            </a:extLst>
          </p:cNvPr>
          <p:cNvSpPr txBox="1"/>
          <p:nvPr/>
        </p:nvSpPr>
        <p:spPr>
          <a:xfrm>
            <a:off x="558800" y="5943600"/>
            <a:ext cx="1069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4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一个共享三分类模型。采用对数概率评分，训练依赖频数统计，无需 </a:t>
            </a:r>
            <a:r>
              <a:rPr lang="en-US" altLang="zh-CN" sz="14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GPU </a:t>
            </a:r>
            <a:r>
              <a:rPr lang="zh-CN" altLang="en-US" sz="14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或反向传播。</a:t>
            </a:r>
          </a:p>
        </p:txBody>
      </p:sp>
    </p:spTree>
    <p:extLst>
      <p:ext uri="{BB962C8B-B14F-4D97-AF65-F5344CB8AC3E}">
        <p14:creationId xmlns:p14="http://schemas.microsoft.com/office/powerpoint/2010/main" val="343479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FC948E3-73D2-E4D0-9EA8-B450CA51E41B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基线路线的在线分析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07EC2A8-7953-582F-89F1-FB7D94092ECC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0FCAD432-85C0-A524-D155-46FBAB46089E}"/>
              </a:ext>
            </a:extLst>
          </p:cNvPr>
          <p:cNvSpPr txBox="1"/>
          <p:nvPr/>
        </p:nvSpPr>
        <p:spPr>
          <a:xfrm>
            <a:off x="558800" y="16764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分句并识别六方面</a:t>
            </a:r>
          </a:p>
          <a:p>
            <a:pPr>
              <a:spcAft>
                <a:spcPts val="1000"/>
              </a:spcAft>
            </a:pPr>
            <a:r>
              <a:rPr lang="zh-CN" altLang="en-US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领域词典定位评价对象，保留原文偏移。</a:t>
            </a:r>
          </a:p>
          <a:p>
            <a:pPr>
              <a:spcAft>
                <a:spcPts val="1000"/>
              </a:spcAft>
            </a:pPr>
            <a:endParaRPr lang="zh-CN" altLang="en-US" sz="2300">
              <a:solidFill>
                <a:srgbClr val="172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en-US" altLang="zh-CN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MNB </a:t>
            </a:r>
            <a:r>
              <a:rPr lang="zh-CN" altLang="en-US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分类与规则校正</a:t>
            </a:r>
          </a:p>
          <a:p>
            <a:pPr>
              <a:spcAft>
                <a:spcPts val="1000"/>
              </a:spcAft>
            </a:pPr>
            <a:r>
              <a:rPr lang="zh-CN" altLang="en-US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字符特征给出候选，规则处理部分否定与转折。</a:t>
            </a:r>
          </a:p>
          <a:p>
            <a:pPr>
              <a:spcAft>
                <a:spcPts val="1000"/>
              </a:spcAft>
            </a:pPr>
            <a:endParaRPr lang="zh-CN" altLang="en-US" sz="2300">
              <a:solidFill>
                <a:srgbClr val="172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zh-CN" altLang="en-US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同方面证据聚合</a:t>
            </a:r>
          </a:p>
          <a:p>
            <a:pPr>
              <a:spcAft>
                <a:spcPts val="1000"/>
              </a:spcAft>
            </a:pPr>
            <a:r>
              <a:rPr lang="zh-CN" altLang="en-US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正负并存归为混合，低 </a:t>
            </a:r>
            <a:r>
              <a:rPr lang="en-US" altLang="zh-CN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margin </a:t>
            </a:r>
            <a:r>
              <a:rPr lang="zh-CN" altLang="en-US" sz="23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或歧义进入待复核。</a:t>
            </a:r>
          </a:p>
        </p:txBody>
      </p:sp>
      <p:sp>
        <p:nvSpPr>
          <p:cNvPr id="5" name="Context">
            <a:extLst>
              <a:ext uri="{FF2B5EF4-FFF2-40B4-BE49-F238E27FC236}">
                <a16:creationId xmlns:a16="http://schemas.microsoft.com/office/drawing/2014/main" id="{A1EDEC61-56FE-20E9-84E1-09E3A8E17916}"/>
              </a:ext>
            </a:extLst>
          </p:cNvPr>
          <p:cNvSpPr txBox="1"/>
          <p:nvPr/>
        </p:nvSpPr>
        <p:spPr>
          <a:xfrm>
            <a:off x="558800" y="5943600"/>
            <a:ext cx="1069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4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基线运行快速、训练可复现。反讽、跨句指代和隐含评价仍需语义模型或人工复核。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84423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B2B918B-7217-E422-F27C-A99326ACF2F4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证据校验与结果保存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59E8CD03-5BEB-BC7E-A5C7-B98B1E277F3F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ValidationHeading">
            <a:extLst>
              <a:ext uri="{FF2B5EF4-FFF2-40B4-BE49-F238E27FC236}">
                <a16:creationId xmlns:a16="http://schemas.microsoft.com/office/drawing/2014/main" id="{628B959B-419C-E25E-558D-75964034A4BF}"/>
              </a:ext>
            </a:extLst>
          </p:cNvPr>
          <p:cNvSpPr txBox="1"/>
          <p:nvPr/>
        </p:nvSpPr>
        <p:spPr>
          <a:xfrm>
            <a:off x="558800" y="17145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7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接收结果前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EE7D49E0-3002-EF8C-636D-17072454EB38}"/>
              </a:ext>
            </a:extLst>
          </p:cNvPr>
          <p:cNvSpPr txBox="1"/>
          <p:nvPr/>
        </p:nvSpPr>
        <p:spPr>
          <a:xfrm>
            <a:off x="558800" y="26670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检查 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JSON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、方面与情感枚举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由片段编号恢复真实证据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检查原文子串与 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UTF-16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偏移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不合格则有限重试或记录失败</a:t>
            </a:r>
          </a:p>
        </p:txBody>
      </p:sp>
      <p:sp>
        <p:nvSpPr>
          <p:cNvPr id="6" name="StorageHeading">
            <a:extLst>
              <a:ext uri="{FF2B5EF4-FFF2-40B4-BE49-F238E27FC236}">
                <a16:creationId xmlns:a16="http://schemas.microsoft.com/office/drawing/2014/main" id="{146E2478-A647-40C3-5009-02C392B07575}"/>
              </a:ext>
            </a:extLst>
          </p:cNvPr>
          <p:cNvSpPr txBox="1"/>
          <p:nvPr/>
        </p:nvSpPr>
        <p:spPr>
          <a:xfrm>
            <a:off x="6477000" y="17145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7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入库与查询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AC4D5C9E-F0BD-586F-DA4E-D866DFBC423E}"/>
              </a:ext>
            </a:extLst>
          </p:cNvPr>
          <p:cNvSpPr txBox="1"/>
          <p:nvPr/>
        </p:nvSpPr>
        <p:spPr>
          <a:xfrm>
            <a:off x="6477000" y="26670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原评论与批次独立保存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预测与模型版本关联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人工修订追加保存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查询有效结果，再统计与展示</a:t>
            </a:r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C3DD7916-8D1D-F9B6-8C0D-C354C5E87447}"/>
              </a:ext>
            </a:extLst>
          </p:cNvPr>
          <p:cNvSpPr txBox="1"/>
          <p:nvPr/>
        </p:nvSpPr>
        <p:spPr>
          <a:xfrm>
            <a:off x="558800" y="5943600"/>
            <a:ext cx="1069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4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证据存在于原文，只能证明可追溯。情感判断是否正确仍需要人工金标准评价。</a:t>
            </a:r>
          </a:p>
        </p:txBody>
      </p:sp>
    </p:spTree>
    <p:extLst>
      <p:ext uri="{BB962C8B-B14F-4D97-AF65-F5344CB8AC3E}">
        <p14:creationId xmlns:p14="http://schemas.microsoft.com/office/powerpoint/2010/main" val="3114456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F85CF29-E1E1-D1F8-D661-37FADB0A8FF6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模型对照与评价指标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71AF1FC3-0B13-9471-CC49-40CAAC5B7698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EvalContext">
            <a:extLst>
              <a:ext uri="{FF2B5EF4-FFF2-40B4-BE49-F238E27FC236}">
                <a16:creationId xmlns:a16="http://schemas.microsoft.com/office/drawing/2014/main" id="{14FF2EDD-5E4B-2F91-44F9-7F8B01683216}"/>
              </a:ext>
            </a:extLst>
          </p:cNvPr>
          <p:cNvSpPr txBox="1"/>
          <p:nvPr/>
        </p:nvSpPr>
        <p:spPr>
          <a:xfrm>
            <a:off x="558800" y="15875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历史检查集：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42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条合成评论，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51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个参考方面情感对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C2AA3EF-AB3A-F398-2033-3087E840F6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958201"/>
              </p:ext>
            </p:extLst>
          </p:nvPr>
        </p:nvGraphicFramePr>
        <p:xfrm>
          <a:off x="558800" y="2374900"/>
          <a:ext cx="11074400" cy="208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8600">
                  <a:extLst>
                    <a:ext uri="{9D8B030D-6E8A-4147-A177-3AD203B41FA5}">
                      <a16:colId xmlns:a16="http://schemas.microsoft.com/office/drawing/2014/main" val="2453926740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2371495732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1797613214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2934551497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127000" marT="11430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方面 </a:t>
                      </a:r>
                      <a:r>
                        <a:rPr lang="en-US" altLang="zh-CN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micro-F1</a:t>
                      </a:r>
                      <a:endParaRPr lang="zh-CN" altLang="en-US" sz="1800">
                        <a:solidFill>
                          <a:srgbClr val="172F2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T="11430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方面情感 </a:t>
                      </a:r>
                      <a:r>
                        <a:rPr lang="en-US" altLang="zh-CN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micro-F1</a:t>
                      </a:r>
                      <a:endParaRPr lang="zh-CN" altLang="en-US" sz="1800">
                        <a:solidFill>
                          <a:srgbClr val="172F2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T="114300"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失败评论</a:t>
                      </a:r>
                    </a:p>
                  </a:txBody>
                  <a:tcPr marL="127000" marT="114300">
                    <a:solidFill>
                      <a:srgbClr val="ED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309634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纯 </a:t>
                      </a:r>
                      <a:r>
                        <a:rPr lang="en-US" altLang="zh-CN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MNB</a:t>
                      </a:r>
                      <a:endParaRPr lang="zh-CN" altLang="en-US" sz="1800">
                        <a:solidFill>
                          <a:srgbClr val="172F2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T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98.04%</a:t>
                      </a:r>
                      <a:endParaRPr lang="zh-CN" altLang="en-US" sz="1800">
                        <a:solidFill>
                          <a:srgbClr val="172F2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T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78.43%</a:t>
                      </a:r>
                      <a:endParaRPr lang="zh-CN" altLang="en-US" sz="1800">
                        <a:solidFill>
                          <a:srgbClr val="172F2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T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 / 42</a:t>
                      </a:r>
                      <a:endParaRPr lang="zh-CN" altLang="en-US" sz="1800">
                        <a:solidFill>
                          <a:srgbClr val="172F2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T="1143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052696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lang="en-US" altLang="zh-CN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MNB + </a:t>
                      </a:r>
                      <a:r>
                        <a:rPr lang="zh-CN" altLang="en-US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规则</a:t>
                      </a:r>
                    </a:p>
                  </a:txBody>
                  <a:tcPr marL="127000" marT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98.04%</a:t>
                      </a:r>
                      <a:endParaRPr lang="zh-CN" altLang="en-US" sz="1800">
                        <a:solidFill>
                          <a:srgbClr val="172F2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T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79.55%</a:t>
                      </a:r>
                      <a:endParaRPr lang="zh-CN" altLang="en-US" sz="1800">
                        <a:solidFill>
                          <a:srgbClr val="172F2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T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 / 42</a:t>
                      </a:r>
                      <a:endParaRPr lang="zh-CN" altLang="en-US" sz="1800">
                        <a:solidFill>
                          <a:srgbClr val="172F2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T="1143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466479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lang="en-US" altLang="zh-CN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Qwen3</a:t>
                      </a:r>
                      <a:r>
                        <a:rPr lang="zh-CN" altLang="en-US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n-US" altLang="zh-CN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absa-v2</a:t>
                      </a:r>
                      <a:endParaRPr lang="zh-CN" altLang="en-US" sz="1800">
                        <a:solidFill>
                          <a:srgbClr val="172F2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T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85.39%</a:t>
                      </a:r>
                      <a:endParaRPr lang="zh-CN" altLang="en-US" sz="1800">
                        <a:solidFill>
                          <a:srgbClr val="172F2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T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74.16%</a:t>
                      </a:r>
                      <a:endParaRPr lang="zh-CN" altLang="en-US" sz="1800">
                        <a:solidFill>
                          <a:srgbClr val="172F2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T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solidFill>
                            <a:srgbClr val="172F2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/ 42</a:t>
                      </a:r>
                      <a:endParaRPr lang="zh-CN" altLang="en-US" sz="1800">
                        <a:solidFill>
                          <a:srgbClr val="172F2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27000" marT="1143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457829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14CE6A9B-A80A-3A14-10AD-9E35822E7B0D}"/>
              </a:ext>
            </a:extLst>
          </p:cNvPr>
          <p:cNvSpPr txBox="1"/>
          <p:nvPr/>
        </p:nvSpPr>
        <p:spPr>
          <a:xfrm>
            <a:off x="558800" y="48133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评价关注方面识别、情感配对、证据正确性和失败率。</a:t>
            </a:r>
          </a:p>
          <a:p>
            <a:pPr>
              <a:spcAft>
                <a:spcPts val="1000"/>
              </a:spcAft>
            </a:pP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 </a:t>
            </a:r>
            <a:r>
              <a:rPr lang="en-US" altLang="zh-CN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absa-v4 </a:t>
            </a:r>
            <a:r>
              <a:rPr lang="zh-CN" altLang="en-US" sz="22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的真实评论准确率尚需独立金标准验证。</a:t>
            </a:r>
          </a:p>
        </p:txBody>
      </p:sp>
      <p:sp>
        <p:nvSpPr>
          <p:cNvPr id="7" name="Context">
            <a:extLst>
              <a:ext uri="{FF2B5EF4-FFF2-40B4-BE49-F238E27FC236}">
                <a16:creationId xmlns:a16="http://schemas.microsoft.com/office/drawing/2014/main" id="{E05D7F80-4AA1-7EDE-615E-F4D7EF9C8127}"/>
              </a:ext>
            </a:extLst>
          </p:cNvPr>
          <p:cNvSpPr txBox="1"/>
          <p:nvPr/>
        </p:nvSpPr>
        <p:spPr>
          <a:xfrm>
            <a:off x="558800" y="5943600"/>
            <a:ext cx="1069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4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历史分数不代表当前线上版本，也不代表真实评论泛化能力。</a:t>
            </a:r>
          </a:p>
        </p:txBody>
      </p:sp>
    </p:spTree>
    <p:extLst>
      <p:ext uri="{BB962C8B-B14F-4D97-AF65-F5344CB8AC3E}">
        <p14:creationId xmlns:p14="http://schemas.microsoft.com/office/powerpoint/2010/main" val="322106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B21310E-E825-7960-0CE5-7C582177F401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 </a:t>
            </a: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系统实现与模块职责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2A5A9EF-0F45-FE1A-A5FB-AA2885F4D2E4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C97E0E-2495-096D-0EE4-5B657867F493}"/>
              </a:ext>
            </a:extLst>
          </p:cNvPr>
          <p:cNvSpPr/>
          <p:nvPr/>
        </p:nvSpPr>
        <p:spPr>
          <a:xfrm>
            <a:off x="4635500" y="1587500"/>
            <a:ext cx="2921000" cy="6985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5F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前端页面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F16B51F-ED2E-D983-89A1-7F0817245B80}"/>
              </a:ext>
            </a:extLst>
          </p:cNvPr>
          <p:cNvCxnSpPr/>
          <p:nvPr/>
        </p:nvCxnSpPr>
        <p:spPr>
          <a:xfrm>
            <a:off x="6096000" y="2286000"/>
            <a:ext cx="0" cy="406400"/>
          </a:xfrm>
          <a:prstGeom prst="line">
            <a:avLst/>
          </a:prstGeom>
          <a:ln w="17780">
            <a:solidFill>
              <a:srgbClr val="395F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4700EBEA-47F0-D906-469F-C3296709BA35}"/>
              </a:ext>
            </a:extLst>
          </p:cNvPr>
          <p:cNvSpPr/>
          <p:nvPr/>
        </p:nvSpPr>
        <p:spPr>
          <a:xfrm>
            <a:off x="4635500" y="2692400"/>
            <a:ext cx="2921000" cy="6985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5F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en-US" altLang="zh-CN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BE9795-972F-EF0D-B5C7-274EFDDB0732}"/>
              </a:ext>
            </a:extLst>
          </p:cNvPr>
          <p:cNvSpPr/>
          <p:nvPr/>
        </p:nvSpPr>
        <p:spPr>
          <a:xfrm>
            <a:off x="558800" y="4127500"/>
            <a:ext cx="2311400" cy="82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5F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评论采集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A0F312F-9E3B-FCD8-054C-D3F4DAA95B6B}"/>
              </a:ext>
            </a:extLst>
          </p:cNvPr>
          <p:cNvCxnSpPr/>
          <p:nvPr/>
        </p:nvCxnSpPr>
        <p:spPr>
          <a:xfrm flipH="1">
            <a:off x="1714500" y="3619500"/>
            <a:ext cx="4381500" cy="0"/>
          </a:xfrm>
          <a:prstGeom prst="line">
            <a:avLst/>
          </a:prstGeom>
          <a:ln w="17780">
            <a:solidFill>
              <a:srgbClr val="395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9ED72B6-0526-6CE6-A133-94E8D8E225C7}"/>
              </a:ext>
            </a:extLst>
          </p:cNvPr>
          <p:cNvCxnSpPr/>
          <p:nvPr/>
        </p:nvCxnSpPr>
        <p:spPr>
          <a:xfrm>
            <a:off x="1714500" y="3619500"/>
            <a:ext cx="0" cy="508000"/>
          </a:xfrm>
          <a:prstGeom prst="line">
            <a:avLst/>
          </a:prstGeom>
          <a:ln w="17780">
            <a:solidFill>
              <a:srgbClr val="395F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C9582A10-7747-DC63-2AEE-3C331CBA4C92}"/>
              </a:ext>
            </a:extLst>
          </p:cNvPr>
          <p:cNvSpPr/>
          <p:nvPr/>
        </p:nvSpPr>
        <p:spPr>
          <a:xfrm>
            <a:off x="3479800" y="4127500"/>
            <a:ext cx="2311400" cy="82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5F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en-US" altLang="zh-CN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CSV </a:t>
            </a:r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导入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63F0F47-54F4-85D3-45A3-DB3484F053EB}"/>
              </a:ext>
            </a:extLst>
          </p:cNvPr>
          <p:cNvCxnSpPr/>
          <p:nvPr/>
        </p:nvCxnSpPr>
        <p:spPr>
          <a:xfrm flipH="1">
            <a:off x="4635500" y="3619500"/>
            <a:ext cx="1460500" cy="0"/>
          </a:xfrm>
          <a:prstGeom prst="line">
            <a:avLst/>
          </a:prstGeom>
          <a:ln w="17780">
            <a:solidFill>
              <a:srgbClr val="395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87B44CD-E117-81C0-72AC-6CA60EAD1B47}"/>
              </a:ext>
            </a:extLst>
          </p:cNvPr>
          <p:cNvCxnSpPr/>
          <p:nvPr/>
        </p:nvCxnSpPr>
        <p:spPr>
          <a:xfrm>
            <a:off x="4635500" y="3619500"/>
            <a:ext cx="0" cy="508000"/>
          </a:xfrm>
          <a:prstGeom prst="line">
            <a:avLst/>
          </a:prstGeom>
          <a:ln w="17780">
            <a:solidFill>
              <a:srgbClr val="395F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C77F6F6F-2FDF-E2D2-AF7D-A29331473DD3}"/>
              </a:ext>
            </a:extLst>
          </p:cNvPr>
          <p:cNvSpPr/>
          <p:nvPr/>
        </p:nvSpPr>
        <p:spPr>
          <a:xfrm>
            <a:off x="6400800" y="4127500"/>
            <a:ext cx="2311400" cy="82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5F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批量分析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96EC9B9-5CEC-E57D-0225-A8AA92436CD0}"/>
              </a:ext>
            </a:extLst>
          </p:cNvPr>
          <p:cNvCxnSpPr/>
          <p:nvPr/>
        </p:nvCxnSpPr>
        <p:spPr>
          <a:xfrm>
            <a:off x="6096000" y="3619500"/>
            <a:ext cx="1460500" cy="0"/>
          </a:xfrm>
          <a:prstGeom prst="line">
            <a:avLst/>
          </a:prstGeom>
          <a:ln w="17780">
            <a:solidFill>
              <a:srgbClr val="395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BCB657F-AD08-E449-A3FB-093421992B0E}"/>
              </a:ext>
            </a:extLst>
          </p:cNvPr>
          <p:cNvCxnSpPr/>
          <p:nvPr/>
        </p:nvCxnSpPr>
        <p:spPr>
          <a:xfrm>
            <a:off x="7556500" y="3619500"/>
            <a:ext cx="0" cy="508000"/>
          </a:xfrm>
          <a:prstGeom prst="line">
            <a:avLst/>
          </a:prstGeom>
          <a:ln w="17780">
            <a:solidFill>
              <a:srgbClr val="395F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8BA4F894-61BA-58BB-C526-3F96EA9C57B9}"/>
              </a:ext>
            </a:extLst>
          </p:cNvPr>
          <p:cNvSpPr/>
          <p:nvPr/>
        </p:nvSpPr>
        <p:spPr>
          <a:xfrm>
            <a:off x="9321800" y="4127500"/>
            <a:ext cx="2311400" cy="82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395F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zh-CN" altLang="en-US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结果查询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47E0902-EF1F-90ED-85B2-D27AB00AB13E}"/>
              </a:ext>
            </a:extLst>
          </p:cNvPr>
          <p:cNvCxnSpPr/>
          <p:nvPr/>
        </p:nvCxnSpPr>
        <p:spPr>
          <a:xfrm>
            <a:off x="6096000" y="3619500"/>
            <a:ext cx="4381500" cy="0"/>
          </a:xfrm>
          <a:prstGeom prst="line">
            <a:avLst/>
          </a:prstGeom>
          <a:ln w="17780">
            <a:solidFill>
              <a:srgbClr val="395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8F43F3D-E7CC-632F-74FB-4AD600AC9810}"/>
              </a:ext>
            </a:extLst>
          </p:cNvPr>
          <p:cNvCxnSpPr/>
          <p:nvPr/>
        </p:nvCxnSpPr>
        <p:spPr>
          <a:xfrm>
            <a:off x="10477500" y="3619500"/>
            <a:ext cx="0" cy="508000"/>
          </a:xfrm>
          <a:prstGeom prst="line">
            <a:avLst/>
          </a:prstGeom>
          <a:ln w="17780">
            <a:solidFill>
              <a:srgbClr val="395F4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D13540F-75BC-5E00-6CE7-C760AFD8CE1E}"/>
              </a:ext>
            </a:extLst>
          </p:cNvPr>
          <p:cNvCxnSpPr/>
          <p:nvPr/>
        </p:nvCxnSpPr>
        <p:spPr>
          <a:xfrm>
            <a:off x="6096000" y="3390900"/>
            <a:ext cx="0" cy="228600"/>
          </a:xfrm>
          <a:prstGeom prst="line">
            <a:avLst/>
          </a:prstGeom>
          <a:ln>
            <a:solidFill>
              <a:srgbClr val="395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Body">
            <a:extLst>
              <a:ext uri="{FF2B5EF4-FFF2-40B4-BE49-F238E27FC236}">
                <a16:creationId xmlns:a16="http://schemas.microsoft.com/office/drawing/2014/main" id="{8E4C31F8-9B41-7ABA-6496-C2FCA6BA8925}"/>
              </a:ext>
            </a:extLst>
          </p:cNvPr>
          <p:cNvSpPr txBox="1"/>
          <p:nvPr/>
        </p:nvSpPr>
        <p:spPr>
          <a:xfrm>
            <a:off x="558800" y="52959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1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业务服务处理各自流程，数据仓库集中存取，模型接口统一推理。</a:t>
            </a:r>
          </a:p>
        </p:txBody>
      </p:sp>
      <p:sp>
        <p:nvSpPr>
          <p:cNvPr id="21" name="Context">
            <a:extLst>
              <a:ext uri="{FF2B5EF4-FFF2-40B4-BE49-F238E27FC236}">
                <a16:creationId xmlns:a16="http://schemas.microsoft.com/office/drawing/2014/main" id="{9467CC80-B9BA-49CC-A516-F19BB7D302CD}"/>
              </a:ext>
            </a:extLst>
          </p:cNvPr>
          <p:cNvSpPr txBox="1"/>
          <p:nvPr/>
        </p:nvSpPr>
        <p:spPr>
          <a:xfrm>
            <a:off x="558800" y="5943600"/>
            <a:ext cx="1069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4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页面负责交互与展示。后端校验输入、调度任务，并返回统计、进度和原文证据。</a:t>
            </a:r>
          </a:p>
        </p:txBody>
      </p:sp>
    </p:spTree>
    <p:extLst>
      <p:ext uri="{BB962C8B-B14F-4D97-AF65-F5344CB8AC3E}">
        <p14:creationId xmlns:p14="http://schemas.microsoft.com/office/powerpoint/2010/main" val="295018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96E7CA9-E3D3-B7EA-9A7F-9AE096C1AA39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系统操作 </a:t>
            </a:r>
            <a:r>
              <a:rPr lang="en-US" altLang="zh-CN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：平台评论采集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CAFA3A41-B711-5B58-A915-A632E92A5BF3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ActualSystemScreenshot">
            <a:extLst>
              <a:ext uri="{FF2B5EF4-FFF2-40B4-BE49-F238E27FC236}">
                <a16:creationId xmlns:a16="http://schemas.microsoft.com/office/drawing/2014/main" id="{3BE32153-7CF4-F56E-D878-1E6E40FD743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2192597"/>
            <a:ext cx="8255000" cy="3450706"/>
          </a:xfrm>
          <a:prstGeom prst="rect">
            <a:avLst/>
          </a:prstGeom>
        </p:spPr>
      </p:pic>
      <p:sp>
        <p:nvSpPr>
          <p:cNvPr id="6" name="ScreenshotCaption">
            <a:extLst>
              <a:ext uri="{FF2B5EF4-FFF2-40B4-BE49-F238E27FC236}">
                <a16:creationId xmlns:a16="http://schemas.microsoft.com/office/drawing/2014/main" id="{AA0D082F-B6AD-BCAF-8CCB-D0C821C19DF2}"/>
              </a:ext>
            </a:extLst>
          </p:cNvPr>
          <p:cNvSpPr txBox="1"/>
          <p:nvPr/>
        </p:nvSpPr>
        <p:spPr>
          <a:xfrm>
            <a:off x="558800" y="1244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6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指定商品与数量，自动读取浏览器中可见的评论</a:t>
            </a:r>
          </a:p>
        </p:txBody>
      </p:sp>
      <p:grpSp>
        <p:nvGrpSpPr>
          <p:cNvPr id="9" name="ClickAnnotation1">
            <a:extLst>
              <a:ext uri="{FF2B5EF4-FFF2-40B4-BE49-F238E27FC236}">
                <a16:creationId xmlns:a16="http://schemas.microsoft.com/office/drawing/2014/main" id="{2F2BE6C5-F606-94F6-3E12-2ED50674EF0B}"/>
              </a:ext>
            </a:extLst>
          </p:cNvPr>
          <p:cNvGrpSpPr/>
          <p:nvPr/>
        </p:nvGrpSpPr>
        <p:grpSpPr>
          <a:xfrm>
            <a:off x="789876" y="1905000"/>
            <a:ext cx="10830624" cy="2823585"/>
            <a:chOff x="789876" y="1905000"/>
            <a:chExt cx="10830624" cy="2823585"/>
          </a:xfrm>
        </p:grpSpPr>
        <p:sp>
          <p:nvSpPr>
            <p:cNvPr id="7" name="FocusFrame1">
              <a:extLst>
                <a:ext uri="{FF2B5EF4-FFF2-40B4-BE49-F238E27FC236}">
                  <a16:creationId xmlns:a16="http://schemas.microsoft.com/office/drawing/2014/main" id="{BAB1D8A0-947B-9F5A-581C-042C9E7C2256}"/>
                </a:ext>
              </a:extLst>
            </p:cNvPr>
            <p:cNvSpPr/>
            <p:nvPr/>
          </p:nvSpPr>
          <p:spPr>
            <a:xfrm>
              <a:off x="789876" y="4417827"/>
              <a:ext cx="7792848" cy="310758"/>
            </a:xfrm>
            <a:prstGeom prst="rect">
              <a:avLst/>
            </a:prstGeom>
            <a:noFill/>
            <a:ln w="30480" cap="flat" cmpd="sng" algn="ctr">
              <a:solidFill>
                <a:srgbClr val="A34E3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Annotation1">
              <a:extLst>
                <a:ext uri="{FF2B5EF4-FFF2-40B4-BE49-F238E27FC236}">
                  <a16:creationId xmlns:a16="http://schemas.microsoft.com/office/drawing/2014/main" id="{CB2BCE01-B6EA-64CE-A9BD-C5B6DC59DCF9}"/>
                </a:ext>
              </a:extLst>
            </p:cNvPr>
            <p:cNvSpPr txBox="1"/>
            <p:nvPr/>
          </p:nvSpPr>
          <p:spPr>
            <a:xfrm>
              <a:off x="9131300" y="1905000"/>
              <a:ext cx="2489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altLang="zh-CN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01  </a:t>
              </a:r>
              <a:r>
                <a:rPr lang="zh-CN" altLang="en-US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商品归属</a:t>
              </a:r>
            </a:p>
            <a:p>
              <a:pPr>
                <a:spcAft>
                  <a:spcPts val="1000"/>
                </a:spcAft>
              </a:pPr>
              <a:r>
                <a:rPr lang="zh-CN" altLang="en-US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具体商品链接绑定目标耳机，避免把不同型号混在一起。</a:t>
              </a:r>
            </a:p>
          </p:txBody>
        </p:sp>
      </p:grpSp>
      <p:grpSp>
        <p:nvGrpSpPr>
          <p:cNvPr id="12" name="ClickAnnotation2">
            <a:extLst>
              <a:ext uri="{FF2B5EF4-FFF2-40B4-BE49-F238E27FC236}">
                <a16:creationId xmlns:a16="http://schemas.microsoft.com/office/drawing/2014/main" id="{11B64F32-E41C-029B-07C7-D126D1D43BEC}"/>
              </a:ext>
            </a:extLst>
          </p:cNvPr>
          <p:cNvGrpSpPr/>
          <p:nvPr/>
        </p:nvGrpSpPr>
        <p:grpSpPr>
          <a:xfrm>
            <a:off x="789876" y="3251200"/>
            <a:ext cx="10830624" cy="2161027"/>
            <a:chOff x="789876" y="3251200"/>
            <a:chExt cx="10830624" cy="2161027"/>
          </a:xfrm>
        </p:grpSpPr>
        <p:sp>
          <p:nvSpPr>
            <p:cNvPr id="10" name="FocusFrame2">
              <a:extLst>
                <a:ext uri="{FF2B5EF4-FFF2-40B4-BE49-F238E27FC236}">
                  <a16:creationId xmlns:a16="http://schemas.microsoft.com/office/drawing/2014/main" id="{350E2AEB-9E3D-15B9-45FA-28F1C3F423D5}"/>
                </a:ext>
              </a:extLst>
            </p:cNvPr>
            <p:cNvSpPr/>
            <p:nvPr/>
          </p:nvSpPr>
          <p:spPr>
            <a:xfrm>
              <a:off x="789876" y="4887947"/>
              <a:ext cx="7792848" cy="524280"/>
            </a:xfrm>
            <a:prstGeom prst="rect">
              <a:avLst/>
            </a:prstGeom>
            <a:noFill/>
            <a:ln w="30480" cap="flat" cmpd="sng" algn="ctr">
              <a:solidFill>
                <a:srgbClr val="A34E3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Annotation2">
              <a:extLst>
                <a:ext uri="{FF2B5EF4-FFF2-40B4-BE49-F238E27FC236}">
                  <a16:creationId xmlns:a16="http://schemas.microsoft.com/office/drawing/2014/main" id="{B0B4DB14-626E-2A8D-D251-A5AA895F3341}"/>
                </a:ext>
              </a:extLst>
            </p:cNvPr>
            <p:cNvSpPr txBox="1"/>
            <p:nvPr/>
          </p:nvSpPr>
          <p:spPr>
            <a:xfrm>
              <a:off x="9131300" y="3251200"/>
              <a:ext cx="2489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altLang="zh-CN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02  </a:t>
              </a:r>
              <a:r>
                <a:rPr lang="zh-CN" altLang="en-US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自动采集</a:t>
              </a:r>
            </a:p>
            <a:p>
              <a:pPr>
                <a:spcAft>
                  <a:spcPts val="1000"/>
                </a:spcAft>
              </a:pPr>
              <a:r>
                <a:rPr lang="zh-CN" altLang="en-US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设置目标数量后打开 </a:t>
              </a:r>
              <a:r>
                <a:rPr lang="en-US" altLang="zh-CN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Chrome</a:t>
              </a:r>
              <a:r>
                <a:rPr lang="zh-CN" altLang="en-US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，系统进入评价区并连续加载。</a:t>
              </a:r>
            </a:p>
          </p:txBody>
        </p:sp>
      </p:grpSp>
      <p:sp>
        <p:nvSpPr>
          <p:cNvPr id="13" name="ClickHint">
            <a:extLst>
              <a:ext uri="{FF2B5EF4-FFF2-40B4-BE49-F238E27FC236}">
                <a16:creationId xmlns:a16="http://schemas.microsoft.com/office/drawing/2014/main" id="{4142E4F8-9D36-4323-6CDF-24201374E1C9}"/>
              </a:ext>
            </a:extLst>
          </p:cNvPr>
          <p:cNvSpPr txBox="1"/>
          <p:nvPr/>
        </p:nvSpPr>
        <p:spPr>
          <a:xfrm>
            <a:off x="9131300" y="59055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3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单击依次显示功能批注</a:t>
            </a:r>
          </a:p>
        </p:txBody>
      </p:sp>
    </p:spTree>
    <p:extLst>
      <p:ext uri="{BB962C8B-B14F-4D97-AF65-F5344CB8AC3E}">
        <p14:creationId xmlns:p14="http://schemas.microsoft.com/office/powerpoint/2010/main" val="244651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BD7B75E-5587-85A1-C7BF-BF788F603B9D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系统操作 </a:t>
            </a:r>
            <a:r>
              <a:rPr lang="en-US" altLang="zh-CN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CSV </a:t>
            </a: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导入与模型选择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917C801-31B8-E548-C987-0E1EEF41E1BC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ActualSystemScreenshot">
            <a:extLst>
              <a:ext uri="{FF2B5EF4-FFF2-40B4-BE49-F238E27FC236}">
                <a16:creationId xmlns:a16="http://schemas.microsoft.com/office/drawing/2014/main" id="{B46826C1-D975-1D98-F9D1-641562289DF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845" y="1600200"/>
            <a:ext cx="6576911" cy="4635500"/>
          </a:xfrm>
          <a:prstGeom prst="rect">
            <a:avLst/>
          </a:prstGeom>
        </p:spPr>
      </p:pic>
      <p:sp>
        <p:nvSpPr>
          <p:cNvPr id="6" name="ScreenshotCaption">
            <a:extLst>
              <a:ext uri="{FF2B5EF4-FFF2-40B4-BE49-F238E27FC236}">
                <a16:creationId xmlns:a16="http://schemas.microsoft.com/office/drawing/2014/main" id="{010D0434-9569-DFC8-5A95-A273CB55BC89}"/>
              </a:ext>
            </a:extLst>
          </p:cNvPr>
          <p:cNvSpPr txBox="1"/>
          <p:nvPr/>
        </p:nvSpPr>
        <p:spPr>
          <a:xfrm>
            <a:off x="558800" y="1244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6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真实采集文件，识别 </a:t>
            </a:r>
            <a:r>
              <a:rPr lang="en-US" altLang="zh-CN" sz="16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 </a:t>
            </a:r>
            <a:r>
              <a:rPr lang="zh-CN" altLang="en-US" sz="16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条记录，确认字段与产品归属</a:t>
            </a:r>
          </a:p>
        </p:txBody>
      </p:sp>
      <p:grpSp>
        <p:nvGrpSpPr>
          <p:cNvPr id="9" name="ClickAnnotation1">
            <a:extLst>
              <a:ext uri="{FF2B5EF4-FFF2-40B4-BE49-F238E27FC236}">
                <a16:creationId xmlns:a16="http://schemas.microsoft.com/office/drawing/2014/main" id="{EDFB1EDB-F8F9-1820-4B51-34482545A626}"/>
              </a:ext>
            </a:extLst>
          </p:cNvPr>
          <p:cNvGrpSpPr/>
          <p:nvPr/>
        </p:nvGrpSpPr>
        <p:grpSpPr>
          <a:xfrm>
            <a:off x="1562902" y="1905000"/>
            <a:ext cx="10057598" cy="3398184"/>
            <a:chOff x="1562902" y="1905000"/>
            <a:chExt cx="10057598" cy="3398184"/>
          </a:xfrm>
        </p:grpSpPr>
        <p:sp>
          <p:nvSpPr>
            <p:cNvPr id="7" name="FocusFrame1">
              <a:extLst>
                <a:ext uri="{FF2B5EF4-FFF2-40B4-BE49-F238E27FC236}">
                  <a16:creationId xmlns:a16="http://schemas.microsoft.com/office/drawing/2014/main" id="{1E2FE99F-BF66-4077-2243-ED7C47A7F3A6}"/>
                </a:ext>
              </a:extLst>
            </p:cNvPr>
            <p:cNvSpPr/>
            <p:nvPr/>
          </p:nvSpPr>
          <p:spPr>
            <a:xfrm>
              <a:off x="1562902" y="5055598"/>
              <a:ext cx="1812658" cy="247586"/>
            </a:xfrm>
            <a:prstGeom prst="rect">
              <a:avLst/>
            </a:prstGeom>
            <a:noFill/>
            <a:ln w="30480" cap="flat" cmpd="sng" algn="ctr">
              <a:solidFill>
                <a:srgbClr val="A34E3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Annotation1">
              <a:extLst>
                <a:ext uri="{FF2B5EF4-FFF2-40B4-BE49-F238E27FC236}">
                  <a16:creationId xmlns:a16="http://schemas.microsoft.com/office/drawing/2014/main" id="{5BC009B0-A007-5A47-BF23-53C2ED6AD77D}"/>
                </a:ext>
              </a:extLst>
            </p:cNvPr>
            <p:cNvSpPr txBox="1"/>
            <p:nvPr/>
          </p:nvSpPr>
          <p:spPr>
            <a:xfrm>
              <a:off x="9131300" y="1905000"/>
              <a:ext cx="2489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altLang="zh-CN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01  </a:t>
              </a:r>
              <a:r>
                <a:rPr lang="zh-CN" altLang="en-US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字段映射</a:t>
              </a:r>
            </a:p>
            <a:p>
              <a:pPr>
                <a:spcAft>
                  <a:spcPts val="1000"/>
                </a:spcAft>
              </a:pPr>
              <a:r>
                <a:rPr lang="zh-CN" altLang="en-US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将 </a:t>
              </a:r>
              <a:r>
                <a:rPr lang="en-US" altLang="zh-CN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CSV </a:t>
              </a:r>
              <a:r>
                <a:rPr lang="zh-CN" altLang="en-US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的评论列映射为正文，保留原始内容。</a:t>
              </a:r>
            </a:p>
          </p:txBody>
        </p:sp>
      </p:grpSp>
      <p:grpSp>
        <p:nvGrpSpPr>
          <p:cNvPr id="12" name="ClickAnnotation2">
            <a:extLst>
              <a:ext uri="{FF2B5EF4-FFF2-40B4-BE49-F238E27FC236}">
                <a16:creationId xmlns:a16="http://schemas.microsoft.com/office/drawing/2014/main" id="{FF4FB5C9-40C8-72FD-BFFB-6D14177B0CCD}"/>
              </a:ext>
            </a:extLst>
          </p:cNvPr>
          <p:cNvGrpSpPr/>
          <p:nvPr/>
        </p:nvGrpSpPr>
        <p:grpSpPr>
          <a:xfrm>
            <a:off x="5480243" y="2268267"/>
            <a:ext cx="6140257" cy="3802376"/>
            <a:chOff x="5480243" y="2268267"/>
            <a:chExt cx="6140257" cy="3802376"/>
          </a:xfrm>
        </p:grpSpPr>
        <p:sp>
          <p:nvSpPr>
            <p:cNvPr id="10" name="FocusFrame2">
              <a:extLst>
                <a:ext uri="{FF2B5EF4-FFF2-40B4-BE49-F238E27FC236}">
                  <a16:creationId xmlns:a16="http://schemas.microsoft.com/office/drawing/2014/main" id="{E6D5EA28-79EF-34DE-063B-F8599D12EBA9}"/>
                </a:ext>
              </a:extLst>
            </p:cNvPr>
            <p:cNvSpPr/>
            <p:nvPr/>
          </p:nvSpPr>
          <p:spPr>
            <a:xfrm>
              <a:off x="5480243" y="2268267"/>
              <a:ext cx="2329455" cy="3802376"/>
            </a:xfrm>
            <a:prstGeom prst="rect">
              <a:avLst/>
            </a:prstGeom>
            <a:noFill/>
            <a:ln w="30480" cap="flat" cmpd="sng" algn="ctr">
              <a:solidFill>
                <a:srgbClr val="A34E3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Annotation2">
              <a:extLst>
                <a:ext uri="{FF2B5EF4-FFF2-40B4-BE49-F238E27FC236}">
                  <a16:creationId xmlns:a16="http://schemas.microsoft.com/office/drawing/2014/main" id="{0375462B-7DDB-ED96-AB75-7439FAE7611C}"/>
                </a:ext>
              </a:extLst>
            </p:cNvPr>
            <p:cNvSpPr txBox="1"/>
            <p:nvPr/>
          </p:nvSpPr>
          <p:spPr>
            <a:xfrm>
              <a:off x="9131300" y="3251200"/>
              <a:ext cx="2489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altLang="zh-CN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02  </a:t>
              </a:r>
              <a:r>
                <a:rPr lang="zh-CN" altLang="en-US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归属与分析方法</a:t>
              </a:r>
            </a:p>
            <a:p>
              <a:pPr>
                <a:spcAft>
                  <a:spcPts val="1000"/>
                </a:spcAft>
              </a:pPr>
              <a:r>
                <a:rPr lang="zh-CN" altLang="en-US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确认产品、来源与模型。校验预览后才提交正式入库。</a:t>
              </a:r>
            </a:p>
          </p:txBody>
        </p:sp>
      </p:grpSp>
      <p:sp>
        <p:nvSpPr>
          <p:cNvPr id="13" name="ClickHint">
            <a:extLst>
              <a:ext uri="{FF2B5EF4-FFF2-40B4-BE49-F238E27FC236}">
                <a16:creationId xmlns:a16="http://schemas.microsoft.com/office/drawing/2014/main" id="{28320583-F123-F091-8CAF-36FA476BE060}"/>
              </a:ext>
            </a:extLst>
          </p:cNvPr>
          <p:cNvSpPr txBox="1"/>
          <p:nvPr/>
        </p:nvSpPr>
        <p:spPr>
          <a:xfrm>
            <a:off x="9131300" y="59055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3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单击依次显示功能批注</a:t>
            </a:r>
          </a:p>
        </p:txBody>
      </p:sp>
    </p:spTree>
    <p:extLst>
      <p:ext uri="{BB962C8B-B14F-4D97-AF65-F5344CB8AC3E}">
        <p14:creationId xmlns:p14="http://schemas.microsoft.com/office/powerpoint/2010/main" val="363669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8409109-6DEA-5E9A-6A5A-9EA0B3B7CC70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系统操作 </a:t>
            </a:r>
            <a:r>
              <a:rPr lang="en-US" altLang="zh-CN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：批次分析与任务追踪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C838154D-1DB0-AA21-E613-DE3F8EA6C7BF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ActualSystemScreenshot">
            <a:extLst>
              <a:ext uri="{FF2B5EF4-FFF2-40B4-BE49-F238E27FC236}">
                <a16:creationId xmlns:a16="http://schemas.microsoft.com/office/drawing/2014/main" id="{B67F45A7-0584-E8CB-02DF-2014C91F1ED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2696832"/>
            <a:ext cx="8255000" cy="2442237"/>
          </a:xfrm>
          <a:prstGeom prst="rect">
            <a:avLst/>
          </a:prstGeom>
        </p:spPr>
      </p:pic>
      <p:sp>
        <p:nvSpPr>
          <p:cNvPr id="6" name="ScreenshotCaption">
            <a:extLst>
              <a:ext uri="{FF2B5EF4-FFF2-40B4-BE49-F238E27FC236}">
                <a16:creationId xmlns:a16="http://schemas.microsoft.com/office/drawing/2014/main" id="{33DB9566-BC58-5698-7F39-33782402996C}"/>
              </a:ext>
            </a:extLst>
          </p:cNvPr>
          <p:cNvSpPr txBox="1"/>
          <p:nvPr/>
        </p:nvSpPr>
        <p:spPr>
          <a:xfrm>
            <a:off x="558800" y="1244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6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每个批次独立展示数据来源、模型版本和任务进度</a:t>
            </a:r>
          </a:p>
        </p:txBody>
      </p:sp>
      <p:grpSp>
        <p:nvGrpSpPr>
          <p:cNvPr id="9" name="ClickAnnotation1">
            <a:extLst>
              <a:ext uri="{FF2B5EF4-FFF2-40B4-BE49-F238E27FC236}">
                <a16:creationId xmlns:a16="http://schemas.microsoft.com/office/drawing/2014/main" id="{C3DAA1CE-0989-9E0A-5074-49BD7F864736}"/>
              </a:ext>
            </a:extLst>
          </p:cNvPr>
          <p:cNvGrpSpPr/>
          <p:nvPr/>
        </p:nvGrpSpPr>
        <p:grpSpPr>
          <a:xfrm>
            <a:off x="758004" y="1905000"/>
            <a:ext cx="10862496" cy="1412102"/>
            <a:chOff x="758004" y="1905000"/>
            <a:chExt cx="10862496" cy="1412102"/>
          </a:xfrm>
        </p:grpSpPr>
        <p:sp>
          <p:nvSpPr>
            <p:cNvPr id="7" name="FocusFrame1">
              <a:extLst>
                <a:ext uri="{FF2B5EF4-FFF2-40B4-BE49-F238E27FC236}">
                  <a16:creationId xmlns:a16="http://schemas.microsoft.com/office/drawing/2014/main" id="{FFAE63DE-74E7-7F9D-C1BC-0B86D2AEBC4D}"/>
                </a:ext>
              </a:extLst>
            </p:cNvPr>
            <p:cNvSpPr/>
            <p:nvPr/>
          </p:nvSpPr>
          <p:spPr>
            <a:xfrm>
              <a:off x="758004" y="2896035"/>
              <a:ext cx="7856592" cy="421067"/>
            </a:xfrm>
            <a:prstGeom prst="rect">
              <a:avLst/>
            </a:prstGeom>
            <a:noFill/>
            <a:ln w="30480" cap="flat" cmpd="sng" algn="ctr">
              <a:solidFill>
                <a:srgbClr val="A34E3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Annotation1">
              <a:extLst>
                <a:ext uri="{FF2B5EF4-FFF2-40B4-BE49-F238E27FC236}">
                  <a16:creationId xmlns:a16="http://schemas.microsoft.com/office/drawing/2014/main" id="{1D28B752-1D4E-42C0-0583-8FEF8F2D9040}"/>
                </a:ext>
              </a:extLst>
            </p:cNvPr>
            <p:cNvSpPr txBox="1"/>
            <p:nvPr/>
          </p:nvSpPr>
          <p:spPr>
            <a:xfrm>
              <a:off x="9131300" y="1905000"/>
              <a:ext cx="2489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altLang="zh-CN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01  </a:t>
              </a:r>
              <a:r>
                <a:rPr lang="zh-CN" altLang="en-US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批次与任务</a:t>
              </a:r>
            </a:p>
            <a:p>
              <a:pPr>
                <a:spcAft>
                  <a:spcPts val="1000"/>
                </a:spcAft>
              </a:pPr>
              <a:r>
                <a:rPr lang="zh-CN" altLang="en-US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耳机、批次号、任务号共同标识本次分析。</a:t>
              </a:r>
            </a:p>
          </p:txBody>
        </p:sp>
      </p:grpSp>
      <p:grpSp>
        <p:nvGrpSpPr>
          <p:cNvPr id="12" name="ClickAnnotation2">
            <a:extLst>
              <a:ext uri="{FF2B5EF4-FFF2-40B4-BE49-F238E27FC236}">
                <a16:creationId xmlns:a16="http://schemas.microsoft.com/office/drawing/2014/main" id="{F6BCB5B4-AF00-737B-5CEB-D7CC7F05C402}"/>
              </a:ext>
            </a:extLst>
          </p:cNvPr>
          <p:cNvGrpSpPr/>
          <p:nvPr/>
        </p:nvGrpSpPr>
        <p:grpSpPr>
          <a:xfrm>
            <a:off x="758004" y="3251200"/>
            <a:ext cx="10862496" cy="1252035"/>
            <a:chOff x="758004" y="3251200"/>
            <a:chExt cx="10862496" cy="1252035"/>
          </a:xfrm>
        </p:grpSpPr>
        <p:sp>
          <p:nvSpPr>
            <p:cNvPr id="10" name="FocusFrame2">
              <a:extLst>
                <a:ext uri="{FF2B5EF4-FFF2-40B4-BE49-F238E27FC236}">
                  <a16:creationId xmlns:a16="http://schemas.microsoft.com/office/drawing/2014/main" id="{2DB71C22-3F65-68FA-532D-4E6BDD451A01}"/>
                </a:ext>
              </a:extLst>
            </p:cNvPr>
            <p:cNvSpPr/>
            <p:nvPr/>
          </p:nvSpPr>
          <p:spPr>
            <a:xfrm>
              <a:off x="758004" y="3492401"/>
              <a:ext cx="7856592" cy="1010834"/>
            </a:xfrm>
            <a:prstGeom prst="rect">
              <a:avLst/>
            </a:prstGeom>
            <a:noFill/>
            <a:ln w="30480" cap="flat" cmpd="sng" algn="ctr">
              <a:solidFill>
                <a:srgbClr val="A34E3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Annotation2">
              <a:extLst>
                <a:ext uri="{FF2B5EF4-FFF2-40B4-BE49-F238E27FC236}">
                  <a16:creationId xmlns:a16="http://schemas.microsoft.com/office/drawing/2014/main" id="{CBF1F1C7-03F2-DA05-37AC-1C9E099612C2}"/>
                </a:ext>
              </a:extLst>
            </p:cNvPr>
            <p:cNvSpPr txBox="1"/>
            <p:nvPr/>
          </p:nvSpPr>
          <p:spPr>
            <a:xfrm>
              <a:off x="9131300" y="3251200"/>
              <a:ext cx="2489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altLang="zh-CN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02  </a:t>
              </a:r>
              <a:r>
                <a:rPr lang="zh-CN" altLang="en-US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数据与模型</a:t>
              </a:r>
            </a:p>
            <a:p>
              <a:pPr>
                <a:spcAft>
                  <a:spcPts val="1000"/>
                </a:spcAft>
              </a:pPr>
              <a:r>
                <a:rPr lang="zh-CN" altLang="en-US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记录文件、来源、方法及版本，方便复现与核对。</a:t>
              </a:r>
            </a:p>
          </p:txBody>
        </p:sp>
      </p:grpSp>
      <p:grpSp>
        <p:nvGrpSpPr>
          <p:cNvPr id="15" name="ClickAnnotation3">
            <a:extLst>
              <a:ext uri="{FF2B5EF4-FFF2-40B4-BE49-F238E27FC236}">
                <a16:creationId xmlns:a16="http://schemas.microsoft.com/office/drawing/2014/main" id="{8AEA60D1-ACB9-F507-B34B-7EE5B917FDE9}"/>
              </a:ext>
            </a:extLst>
          </p:cNvPr>
          <p:cNvGrpSpPr/>
          <p:nvPr/>
        </p:nvGrpSpPr>
        <p:grpSpPr>
          <a:xfrm>
            <a:off x="758004" y="4597400"/>
            <a:ext cx="10862496" cy="342465"/>
            <a:chOff x="758004" y="4597400"/>
            <a:chExt cx="10862496" cy="342465"/>
          </a:xfrm>
        </p:grpSpPr>
        <p:sp>
          <p:nvSpPr>
            <p:cNvPr id="13" name="FocusFrame3">
              <a:extLst>
                <a:ext uri="{FF2B5EF4-FFF2-40B4-BE49-F238E27FC236}">
                  <a16:creationId xmlns:a16="http://schemas.microsoft.com/office/drawing/2014/main" id="{5441C84F-BD61-227E-5650-471511AC19AF}"/>
                </a:ext>
              </a:extLst>
            </p:cNvPr>
            <p:cNvSpPr/>
            <p:nvPr/>
          </p:nvSpPr>
          <p:spPr>
            <a:xfrm>
              <a:off x="758004" y="4646662"/>
              <a:ext cx="7856592" cy="293203"/>
            </a:xfrm>
            <a:prstGeom prst="rect">
              <a:avLst/>
            </a:prstGeom>
            <a:noFill/>
            <a:ln w="30480" cap="flat" cmpd="sng" algn="ctr">
              <a:solidFill>
                <a:srgbClr val="A34E3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Annotation3">
              <a:extLst>
                <a:ext uri="{FF2B5EF4-FFF2-40B4-BE49-F238E27FC236}">
                  <a16:creationId xmlns:a16="http://schemas.microsoft.com/office/drawing/2014/main" id="{67DC52CE-2510-BA2F-268A-5CA6B0112C31}"/>
                </a:ext>
              </a:extLst>
            </p:cNvPr>
            <p:cNvSpPr txBox="1"/>
            <p:nvPr/>
          </p:nvSpPr>
          <p:spPr>
            <a:xfrm>
              <a:off x="9131300" y="4597400"/>
              <a:ext cx="2489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altLang="zh-CN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03  </a:t>
              </a:r>
              <a:r>
                <a:rPr lang="zh-CN" altLang="en-US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处理进度</a:t>
              </a:r>
            </a:p>
            <a:p>
              <a:pPr>
                <a:spcAft>
                  <a:spcPts val="1000"/>
                </a:spcAft>
              </a:pPr>
              <a:r>
                <a:rPr lang="zh-CN" altLang="en-US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已尝试数量包括成功和失败，失败原因另行记录。</a:t>
              </a:r>
            </a:p>
          </p:txBody>
        </p:sp>
      </p:grpSp>
      <p:sp>
        <p:nvSpPr>
          <p:cNvPr id="16" name="ClickHint">
            <a:extLst>
              <a:ext uri="{FF2B5EF4-FFF2-40B4-BE49-F238E27FC236}">
                <a16:creationId xmlns:a16="http://schemas.microsoft.com/office/drawing/2014/main" id="{80FD6EEC-2B93-6E55-FBA6-04B0313CB4AF}"/>
              </a:ext>
            </a:extLst>
          </p:cNvPr>
          <p:cNvSpPr txBox="1"/>
          <p:nvPr/>
        </p:nvSpPr>
        <p:spPr>
          <a:xfrm>
            <a:off x="9131300" y="59055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3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单击依次显示功能批注</a:t>
            </a:r>
          </a:p>
        </p:txBody>
      </p:sp>
    </p:spTree>
    <p:extLst>
      <p:ext uri="{BB962C8B-B14F-4D97-AF65-F5344CB8AC3E}">
        <p14:creationId xmlns:p14="http://schemas.microsoft.com/office/powerpoint/2010/main" val="307431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5FEC61B-B78C-081B-B89C-0E58A05BA1C4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系统操作 </a:t>
            </a:r>
            <a:r>
              <a:rPr lang="en-US" altLang="zh-CN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：整体情感可视化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464423B-AE73-912B-F8F8-C7F43791FDEC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ActualSystemScreenshot">
            <a:extLst>
              <a:ext uri="{FF2B5EF4-FFF2-40B4-BE49-F238E27FC236}">
                <a16:creationId xmlns:a16="http://schemas.microsoft.com/office/drawing/2014/main" id="{A273B86C-0E67-AA2B-12C5-BAA5B3648E6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2929900"/>
            <a:ext cx="8255000" cy="1976100"/>
          </a:xfrm>
          <a:prstGeom prst="rect">
            <a:avLst/>
          </a:prstGeom>
        </p:spPr>
      </p:pic>
      <p:sp>
        <p:nvSpPr>
          <p:cNvPr id="6" name="ScreenshotCaption">
            <a:extLst>
              <a:ext uri="{FF2B5EF4-FFF2-40B4-BE49-F238E27FC236}">
                <a16:creationId xmlns:a16="http://schemas.microsoft.com/office/drawing/2014/main" id="{2FD8F2EE-BFAD-0B9B-5F8F-A6F74A77AE3D}"/>
              </a:ext>
            </a:extLst>
          </p:cNvPr>
          <p:cNvSpPr txBox="1"/>
          <p:nvPr/>
        </p:nvSpPr>
        <p:spPr>
          <a:xfrm>
            <a:off x="558800" y="1244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6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汇总同一耳机的六方面情感，展示数量与占比</a:t>
            </a:r>
          </a:p>
        </p:txBody>
      </p:sp>
      <p:grpSp>
        <p:nvGrpSpPr>
          <p:cNvPr id="9" name="ClickAnnotation1">
            <a:extLst>
              <a:ext uri="{FF2B5EF4-FFF2-40B4-BE49-F238E27FC236}">
                <a16:creationId xmlns:a16="http://schemas.microsoft.com/office/drawing/2014/main" id="{2EC0E3C9-7F25-2238-F634-0CB24E7FFCEA}"/>
              </a:ext>
            </a:extLst>
          </p:cNvPr>
          <p:cNvGrpSpPr/>
          <p:nvPr/>
        </p:nvGrpSpPr>
        <p:grpSpPr>
          <a:xfrm>
            <a:off x="4246184" y="1905000"/>
            <a:ext cx="7374316" cy="2769924"/>
            <a:chOff x="4246184" y="1905000"/>
            <a:chExt cx="7374316" cy="2769924"/>
          </a:xfrm>
        </p:grpSpPr>
        <p:sp>
          <p:nvSpPr>
            <p:cNvPr id="7" name="FocusFrame1">
              <a:extLst>
                <a:ext uri="{FF2B5EF4-FFF2-40B4-BE49-F238E27FC236}">
                  <a16:creationId xmlns:a16="http://schemas.microsoft.com/office/drawing/2014/main" id="{0920DDD4-4377-49F9-4285-A021AEB31EDA}"/>
                </a:ext>
              </a:extLst>
            </p:cNvPr>
            <p:cNvSpPr/>
            <p:nvPr/>
          </p:nvSpPr>
          <p:spPr>
            <a:xfrm>
              <a:off x="4246184" y="3160976"/>
              <a:ext cx="1513948" cy="1513948"/>
            </a:xfrm>
            <a:prstGeom prst="rect">
              <a:avLst/>
            </a:prstGeom>
            <a:noFill/>
            <a:ln w="30480" cap="flat" cmpd="sng" algn="ctr">
              <a:solidFill>
                <a:srgbClr val="A34E3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Annotation1">
              <a:extLst>
                <a:ext uri="{FF2B5EF4-FFF2-40B4-BE49-F238E27FC236}">
                  <a16:creationId xmlns:a16="http://schemas.microsoft.com/office/drawing/2014/main" id="{39DDB11C-088F-30F1-C93B-25D13F01EDB9}"/>
                </a:ext>
              </a:extLst>
            </p:cNvPr>
            <p:cNvSpPr txBox="1"/>
            <p:nvPr/>
          </p:nvSpPr>
          <p:spPr>
            <a:xfrm>
              <a:off x="9131300" y="1905000"/>
              <a:ext cx="2489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altLang="zh-CN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01  </a:t>
              </a:r>
              <a:r>
                <a:rPr lang="zh-CN" altLang="en-US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整体情感</a:t>
              </a:r>
            </a:p>
            <a:p>
              <a:pPr>
                <a:spcAft>
                  <a:spcPts val="1000"/>
                </a:spcAft>
              </a:pPr>
              <a:r>
                <a:rPr lang="zh-CN" altLang="en-US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汇总已判定的方面评价，一条评论可能贡献多个方面。</a:t>
              </a:r>
            </a:p>
          </p:txBody>
        </p:sp>
      </p:grpSp>
      <p:grpSp>
        <p:nvGrpSpPr>
          <p:cNvPr id="12" name="ClickAnnotation2">
            <a:extLst>
              <a:ext uri="{FF2B5EF4-FFF2-40B4-BE49-F238E27FC236}">
                <a16:creationId xmlns:a16="http://schemas.microsoft.com/office/drawing/2014/main" id="{F4B07459-D40A-D0FA-239D-490EC4075A33}"/>
              </a:ext>
            </a:extLst>
          </p:cNvPr>
          <p:cNvGrpSpPr/>
          <p:nvPr/>
        </p:nvGrpSpPr>
        <p:grpSpPr>
          <a:xfrm>
            <a:off x="6015113" y="3251200"/>
            <a:ext cx="5605387" cy="1254650"/>
            <a:chOff x="6015113" y="3251200"/>
            <a:chExt cx="5605387" cy="1254650"/>
          </a:xfrm>
        </p:grpSpPr>
        <p:sp>
          <p:nvSpPr>
            <p:cNvPr id="10" name="FocusFrame2">
              <a:extLst>
                <a:ext uri="{FF2B5EF4-FFF2-40B4-BE49-F238E27FC236}">
                  <a16:creationId xmlns:a16="http://schemas.microsoft.com/office/drawing/2014/main" id="{42C7DD46-DFFE-CC1B-BB0A-6CD473269860}"/>
                </a:ext>
              </a:extLst>
            </p:cNvPr>
            <p:cNvSpPr/>
            <p:nvPr/>
          </p:nvSpPr>
          <p:spPr>
            <a:xfrm>
              <a:off x="6015113" y="3330050"/>
              <a:ext cx="2535739" cy="1175800"/>
            </a:xfrm>
            <a:prstGeom prst="rect">
              <a:avLst/>
            </a:prstGeom>
            <a:noFill/>
            <a:ln w="30480" cap="flat" cmpd="sng" algn="ctr">
              <a:solidFill>
                <a:srgbClr val="A34E3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Annotation2">
              <a:extLst>
                <a:ext uri="{FF2B5EF4-FFF2-40B4-BE49-F238E27FC236}">
                  <a16:creationId xmlns:a16="http://schemas.microsoft.com/office/drawing/2014/main" id="{CCA5F575-3920-40EE-3D27-CAA393763426}"/>
                </a:ext>
              </a:extLst>
            </p:cNvPr>
            <p:cNvSpPr txBox="1"/>
            <p:nvPr/>
          </p:nvSpPr>
          <p:spPr>
            <a:xfrm>
              <a:off x="9131300" y="3251200"/>
              <a:ext cx="2489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altLang="zh-CN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02  </a:t>
              </a:r>
              <a:r>
                <a:rPr lang="zh-CN" altLang="en-US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统计口径</a:t>
              </a:r>
            </a:p>
            <a:p>
              <a:pPr>
                <a:spcAft>
                  <a:spcPts val="1000"/>
                </a:spcAft>
              </a:pPr>
              <a:r>
                <a:rPr lang="zh-CN" altLang="en-US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正面、负面、中性、混合分别计数，待复核不进入占比。</a:t>
              </a:r>
            </a:p>
          </p:txBody>
        </p:sp>
      </p:grpSp>
      <p:sp>
        <p:nvSpPr>
          <p:cNvPr id="13" name="ClickHint">
            <a:extLst>
              <a:ext uri="{FF2B5EF4-FFF2-40B4-BE49-F238E27FC236}">
                <a16:creationId xmlns:a16="http://schemas.microsoft.com/office/drawing/2014/main" id="{1F6768D9-4CE6-1756-2D29-EBCC92CBE7D9}"/>
              </a:ext>
            </a:extLst>
          </p:cNvPr>
          <p:cNvSpPr txBox="1"/>
          <p:nvPr/>
        </p:nvSpPr>
        <p:spPr>
          <a:xfrm>
            <a:off x="9131300" y="59055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3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单击依次显示功能批注</a:t>
            </a:r>
          </a:p>
        </p:txBody>
      </p:sp>
    </p:spTree>
    <p:extLst>
      <p:ext uri="{BB962C8B-B14F-4D97-AF65-F5344CB8AC3E}">
        <p14:creationId xmlns:p14="http://schemas.microsoft.com/office/powerpoint/2010/main" val="80218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11DCDBF-FB88-7AAE-8731-C3F5C0C07EDE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系统操作 </a:t>
            </a:r>
            <a:r>
              <a:rPr lang="en-US" altLang="zh-CN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：评论原文与人工复核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DDEEF8B7-B476-94AD-3996-AB618E0F5BF0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ActualSystemScreenshot">
            <a:extLst>
              <a:ext uri="{FF2B5EF4-FFF2-40B4-BE49-F238E27FC236}">
                <a16:creationId xmlns:a16="http://schemas.microsoft.com/office/drawing/2014/main" id="{6149FED6-450F-2F4A-0C1F-63D020DA0AE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15" y="1600200"/>
            <a:ext cx="7692770" cy="4635500"/>
          </a:xfrm>
          <a:prstGeom prst="rect">
            <a:avLst/>
          </a:prstGeom>
        </p:spPr>
      </p:pic>
      <p:sp>
        <p:nvSpPr>
          <p:cNvPr id="6" name="ScreenshotCaption">
            <a:extLst>
              <a:ext uri="{FF2B5EF4-FFF2-40B4-BE49-F238E27FC236}">
                <a16:creationId xmlns:a16="http://schemas.microsoft.com/office/drawing/2014/main" id="{034AE31C-418B-D69B-94D2-23A41149A6BB}"/>
              </a:ext>
            </a:extLst>
          </p:cNvPr>
          <p:cNvSpPr txBox="1"/>
          <p:nvPr/>
        </p:nvSpPr>
        <p:spPr>
          <a:xfrm>
            <a:off x="558800" y="1244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6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查看具体评论、方面判断与证据，保留复核入口</a:t>
            </a:r>
          </a:p>
        </p:txBody>
      </p:sp>
      <p:grpSp>
        <p:nvGrpSpPr>
          <p:cNvPr id="9" name="ClickAnnotation1">
            <a:extLst>
              <a:ext uri="{FF2B5EF4-FFF2-40B4-BE49-F238E27FC236}">
                <a16:creationId xmlns:a16="http://schemas.microsoft.com/office/drawing/2014/main" id="{D0E38050-AC63-3AB4-D09A-DE87CD1B575E}"/>
              </a:ext>
            </a:extLst>
          </p:cNvPr>
          <p:cNvGrpSpPr/>
          <p:nvPr/>
        </p:nvGrpSpPr>
        <p:grpSpPr>
          <a:xfrm>
            <a:off x="839915" y="1905000"/>
            <a:ext cx="10780585" cy="597674"/>
            <a:chOff x="839915" y="1905000"/>
            <a:chExt cx="10780585" cy="597674"/>
          </a:xfrm>
        </p:grpSpPr>
        <p:sp>
          <p:nvSpPr>
            <p:cNvPr id="7" name="FocusFrame1">
              <a:extLst>
                <a:ext uri="{FF2B5EF4-FFF2-40B4-BE49-F238E27FC236}">
                  <a16:creationId xmlns:a16="http://schemas.microsoft.com/office/drawing/2014/main" id="{FE27E944-1FB3-1AFD-4EE1-A282D24D7019}"/>
                </a:ext>
              </a:extLst>
            </p:cNvPr>
            <p:cNvSpPr/>
            <p:nvPr/>
          </p:nvSpPr>
          <p:spPr>
            <a:xfrm>
              <a:off x="839915" y="2064874"/>
              <a:ext cx="7692770" cy="437800"/>
            </a:xfrm>
            <a:prstGeom prst="rect">
              <a:avLst/>
            </a:prstGeom>
            <a:noFill/>
            <a:ln w="30480" cap="flat" cmpd="sng" algn="ctr">
              <a:solidFill>
                <a:srgbClr val="A34E3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Annotation1">
              <a:extLst>
                <a:ext uri="{FF2B5EF4-FFF2-40B4-BE49-F238E27FC236}">
                  <a16:creationId xmlns:a16="http://schemas.microsoft.com/office/drawing/2014/main" id="{D27A541C-03E1-1CD5-F364-3029A4D21B69}"/>
                </a:ext>
              </a:extLst>
            </p:cNvPr>
            <p:cNvSpPr txBox="1"/>
            <p:nvPr/>
          </p:nvSpPr>
          <p:spPr>
            <a:xfrm>
              <a:off x="9131300" y="1905000"/>
              <a:ext cx="2489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altLang="zh-CN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01  </a:t>
              </a:r>
              <a:r>
                <a:rPr lang="zh-CN" altLang="en-US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原文证据</a:t>
              </a:r>
            </a:p>
            <a:p>
              <a:pPr>
                <a:spcAft>
                  <a:spcPts val="1000"/>
                </a:spcAft>
              </a:pPr>
              <a:r>
                <a:rPr lang="zh-CN" altLang="en-US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高亮证据保留在评论原文中，可直接核对模型判断。</a:t>
              </a:r>
            </a:p>
          </p:txBody>
        </p:sp>
      </p:grpSp>
      <p:grpSp>
        <p:nvGrpSpPr>
          <p:cNvPr id="12" name="ClickAnnotation2">
            <a:extLst>
              <a:ext uri="{FF2B5EF4-FFF2-40B4-BE49-F238E27FC236}">
                <a16:creationId xmlns:a16="http://schemas.microsoft.com/office/drawing/2014/main" id="{11ACF143-FD16-1E7C-5212-4CA9CDC14EF8}"/>
              </a:ext>
            </a:extLst>
          </p:cNvPr>
          <p:cNvGrpSpPr/>
          <p:nvPr/>
        </p:nvGrpSpPr>
        <p:grpSpPr>
          <a:xfrm>
            <a:off x="839915" y="2588670"/>
            <a:ext cx="10780585" cy="939529"/>
            <a:chOff x="839915" y="2588670"/>
            <a:chExt cx="10780585" cy="939529"/>
          </a:xfrm>
        </p:grpSpPr>
        <p:sp>
          <p:nvSpPr>
            <p:cNvPr id="10" name="FocusFrame2">
              <a:extLst>
                <a:ext uri="{FF2B5EF4-FFF2-40B4-BE49-F238E27FC236}">
                  <a16:creationId xmlns:a16="http://schemas.microsoft.com/office/drawing/2014/main" id="{0D40A0E0-37C7-27AF-D7FC-D64BC8FD2716}"/>
                </a:ext>
              </a:extLst>
            </p:cNvPr>
            <p:cNvSpPr/>
            <p:nvPr/>
          </p:nvSpPr>
          <p:spPr>
            <a:xfrm>
              <a:off x="839915" y="2588670"/>
              <a:ext cx="7692770" cy="188728"/>
            </a:xfrm>
            <a:prstGeom prst="rect">
              <a:avLst/>
            </a:prstGeom>
            <a:noFill/>
            <a:ln w="30480" cap="flat" cmpd="sng" algn="ctr">
              <a:solidFill>
                <a:srgbClr val="A34E3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Annotation2">
              <a:extLst>
                <a:ext uri="{FF2B5EF4-FFF2-40B4-BE49-F238E27FC236}">
                  <a16:creationId xmlns:a16="http://schemas.microsoft.com/office/drawing/2014/main" id="{8839838C-B954-71E5-7D50-37FB1A7C675D}"/>
                </a:ext>
              </a:extLst>
            </p:cNvPr>
            <p:cNvSpPr txBox="1"/>
            <p:nvPr/>
          </p:nvSpPr>
          <p:spPr>
            <a:xfrm>
              <a:off x="9131300" y="3251200"/>
              <a:ext cx="2489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altLang="zh-CN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02  </a:t>
              </a:r>
              <a:r>
                <a:rPr lang="zh-CN" altLang="en-US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方面标签</a:t>
              </a:r>
            </a:p>
            <a:p>
              <a:pPr>
                <a:spcAft>
                  <a:spcPts val="1000"/>
                </a:spcAft>
              </a:pPr>
              <a:r>
                <a:rPr lang="zh-CN" altLang="en-US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一条评论包含多个方面，未确定的意见单列待复核。</a:t>
              </a:r>
            </a:p>
          </p:txBody>
        </p:sp>
      </p:grpSp>
      <p:grpSp>
        <p:nvGrpSpPr>
          <p:cNvPr id="15" name="ClickAnnotation3">
            <a:extLst>
              <a:ext uri="{FF2B5EF4-FFF2-40B4-BE49-F238E27FC236}">
                <a16:creationId xmlns:a16="http://schemas.microsoft.com/office/drawing/2014/main" id="{F6EC88A8-2523-65C7-C4DA-AFE0AEB47DAC}"/>
              </a:ext>
            </a:extLst>
          </p:cNvPr>
          <p:cNvGrpSpPr/>
          <p:nvPr/>
        </p:nvGrpSpPr>
        <p:grpSpPr>
          <a:xfrm>
            <a:off x="839915" y="3226436"/>
            <a:ext cx="10780585" cy="2845089"/>
            <a:chOff x="839915" y="3226436"/>
            <a:chExt cx="10780585" cy="2845089"/>
          </a:xfrm>
        </p:grpSpPr>
        <p:sp>
          <p:nvSpPr>
            <p:cNvPr id="13" name="FocusFrame3">
              <a:extLst>
                <a:ext uri="{FF2B5EF4-FFF2-40B4-BE49-F238E27FC236}">
                  <a16:creationId xmlns:a16="http://schemas.microsoft.com/office/drawing/2014/main" id="{2CDF3BFF-90AD-E776-6C97-C8FFC9CB7590}"/>
                </a:ext>
              </a:extLst>
            </p:cNvPr>
            <p:cNvSpPr/>
            <p:nvPr/>
          </p:nvSpPr>
          <p:spPr>
            <a:xfrm>
              <a:off x="839915" y="3226436"/>
              <a:ext cx="7692770" cy="2845089"/>
            </a:xfrm>
            <a:prstGeom prst="rect">
              <a:avLst/>
            </a:prstGeom>
            <a:noFill/>
            <a:ln w="30480" cap="flat" cmpd="sng" algn="ctr">
              <a:solidFill>
                <a:srgbClr val="A34E3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Annotation3">
              <a:extLst>
                <a:ext uri="{FF2B5EF4-FFF2-40B4-BE49-F238E27FC236}">
                  <a16:creationId xmlns:a16="http://schemas.microsoft.com/office/drawing/2014/main" id="{DAA193DA-55B8-A55B-DBC4-6D4EACAB1775}"/>
                </a:ext>
              </a:extLst>
            </p:cNvPr>
            <p:cNvSpPr txBox="1"/>
            <p:nvPr/>
          </p:nvSpPr>
          <p:spPr>
            <a:xfrm>
              <a:off x="9131300" y="4597400"/>
              <a:ext cx="2489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altLang="zh-CN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03  </a:t>
              </a:r>
              <a:r>
                <a:rPr lang="zh-CN" altLang="en-US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人工修订</a:t>
              </a:r>
            </a:p>
            <a:p>
              <a:pPr>
                <a:spcAft>
                  <a:spcPts val="1000"/>
                </a:spcAft>
              </a:pPr>
              <a:r>
                <a:rPr lang="zh-CN" altLang="en-US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选择方面与情感，填写真实证据及理由。保存后追加版本化修订。</a:t>
              </a:r>
            </a:p>
          </p:txBody>
        </p:sp>
      </p:grpSp>
      <p:sp>
        <p:nvSpPr>
          <p:cNvPr id="16" name="ClickHint">
            <a:extLst>
              <a:ext uri="{FF2B5EF4-FFF2-40B4-BE49-F238E27FC236}">
                <a16:creationId xmlns:a16="http://schemas.microsoft.com/office/drawing/2014/main" id="{671BEF59-51B9-E414-1716-1A426C94126F}"/>
              </a:ext>
            </a:extLst>
          </p:cNvPr>
          <p:cNvSpPr txBox="1"/>
          <p:nvPr/>
        </p:nvSpPr>
        <p:spPr>
          <a:xfrm>
            <a:off x="9131300" y="59055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3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单击依次显示功能批注</a:t>
            </a:r>
          </a:p>
        </p:txBody>
      </p:sp>
    </p:spTree>
    <p:extLst>
      <p:ext uri="{BB962C8B-B14F-4D97-AF65-F5344CB8AC3E}">
        <p14:creationId xmlns:p14="http://schemas.microsoft.com/office/powerpoint/2010/main" val="175016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8FD5F04-630E-97CD-1AB1-DB88643CC3A5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系统操作 </a:t>
            </a:r>
            <a:r>
              <a:rPr lang="en-US" altLang="zh-CN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：同方面产品对比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22E156B-8196-204E-4338-26A41912826B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ActualSystemScreenshot">
            <a:extLst>
              <a:ext uri="{FF2B5EF4-FFF2-40B4-BE49-F238E27FC236}">
                <a16:creationId xmlns:a16="http://schemas.microsoft.com/office/drawing/2014/main" id="{66B38DD4-8483-7081-07C0-6FF1A079BC1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2145037"/>
            <a:ext cx="8255000" cy="3545825"/>
          </a:xfrm>
          <a:prstGeom prst="rect">
            <a:avLst/>
          </a:prstGeom>
        </p:spPr>
      </p:pic>
      <p:sp>
        <p:nvSpPr>
          <p:cNvPr id="6" name="ScreenshotCaption">
            <a:extLst>
              <a:ext uri="{FF2B5EF4-FFF2-40B4-BE49-F238E27FC236}">
                <a16:creationId xmlns:a16="http://schemas.microsoft.com/office/drawing/2014/main" id="{70C37EEE-A523-DE93-0154-8D90B2292E13}"/>
              </a:ext>
            </a:extLst>
          </p:cNvPr>
          <p:cNvSpPr txBox="1"/>
          <p:nvPr/>
        </p:nvSpPr>
        <p:spPr>
          <a:xfrm>
            <a:off x="558800" y="12446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6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示例展示音质与降噪，完整页面还包含其余四方面</a:t>
            </a:r>
          </a:p>
        </p:txBody>
      </p:sp>
      <p:grpSp>
        <p:nvGrpSpPr>
          <p:cNvPr id="9" name="ClickAnnotation1">
            <a:extLst>
              <a:ext uri="{FF2B5EF4-FFF2-40B4-BE49-F238E27FC236}">
                <a16:creationId xmlns:a16="http://schemas.microsoft.com/office/drawing/2014/main" id="{B86A18EE-E695-63BE-37D4-F4B2E434F247}"/>
              </a:ext>
            </a:extLst>
          </p:cNvPr>
          <p:cNvGrpSpPr/>
          <p:nvPr/>
        </p:nvGrpSpPr>
        <p:grpSpPr>
          <a:xfrm>
            <a:off x="1801831" y="1905000"/>
            <a:ext cx="9818669" cy="2278887"/>
            <a:chOff x="1801831" y="1905000"/>
            <a:chExt cx="9818669" cy="2278887"/>
          </a:xfrm>
        </p:grpSpPr>
        <p:sp>
          <p:nvSpPr>
            <p:cNvPr id="7" name="FocusFrame1">
              <a:extLst>
                <a:ext uri="{FF2B5EF4-FFF2-40B4-BE49-F238E27FC236}">
                  <a16:creationId xmlns:a16="http://schemas.microsoft.com/office/drawing/2014/main" id="{9F3DA853-6A3A-13A6-7B1A-3461B52603E4}"/>
                </a:ext>
              </a:extLst>
            </p:cNvPr>
            <p:cNvSpPr/>
            <p:nvPr/>
          </p:nvSpPr>
          <p:spPr>
            <a:xfrm>
              <a:off x="1801831" y="2886075"/>
              <a:ext cx="3502000" cy="1297812"/>
            </a:xfrm>
            <a:prstGeom prst="rect">
              <a:avLst/>
            </a:prstGeom>
            <a:noFill/>
            <a:ln w="30480" cap="flat" cmpd="sng" algn="ctr">
              <a:solidFill>
                <a:srgbClr val="A34E3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Annotation1">
              <a:extLst>
                <a:ext uri="{FF2B5EF4-FFF2-40B4-BE49-F238E27FC236}">
                  <a16:creationId xmlns:a16="http://schemas.microsoft.com/office/drawing/2014/main" id="{FC6197F1-7974-FE5C-BC96-80D988FF0334}"/>
                </a:ext>
              </a:extLst>
            </p:cNvPr>
            <p:cNvSpPr txBox="1"/>
            <p:nvPr/>
          </p:nvSpPr>
          <p:spPr>
            <a:xfrm>
              <a:off x="9131300" y="1905000"/>
              <a:ext cx="2489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altLang="zh-CN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01  </a:t>
              </a:r>
              <a:r>
                <a:rPr lang="zh-CN" altLang="en-US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同方面对比</a:t>
              </a:r>
            </a:p>
            <a:p>
              <a:pPr>
                <a:spcAft>
                  <a:spcPts val="1000"/>
                </a:spcAft>
              </a:pPr>
              <a:r>
                <a:rPr lang="zh-CN" altLang="en-US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对比同一方面的评价分布，并保留原文入口。</a:t>
              </a:r>
            </a:p>
          </p:txBody>
        </p:sp>
      </p:grpSp>
      <p:grpSp>
        <p:nvGrpSpPr>
          <p:cNvPr id="12" name="ClickAnnotation2">
            <a:extLst>
              <a:ext uri="{FF2B5EF4-FFF2-40B4-BE49-F238E27FC236}">
                <a16:creationId xmlns:a16="http://schemas.microsoft.com/office/drawing/2014/main" id="{BC114623-100E-A8EF-12EF-F472C08E15C7}"/>
              </a:ext>
            </a:extLst>
          </p:cNvPr>
          <p:cNvGrpSpPr/>
          <p:nvPr/>
        </p:nvGrpSpPr>
        <p:grpSpPr>
          <a:xfrm>
            <a:off x="1801831" y="3251200"/>
            <a:ext cx="9818669" cy="2414513"/>
            <a:chOff x="1801831" y="3251200"/>
            <a:chExt cx="9818669" cy="2414513"/>
          </a:xfrm>
        </p:grpSpPr>
        <p:sp>
          <p:nvSpPr>
            <p:cNvPr id="10" name="FocusFrame2">
              <a:extLst>
                <a:ext uri="{FF2B5EF4-FFF2-40B4-BE49-F238E27FC236}">
                  <a16:creationId xmlns:a16="http://schemas.microsoft.com/office/drawing/2014/main" id="{0537C15E-2B0E-2380-B3E4-862E87E866F0}"/>
                </a:ext>
              </a:extLst>
            </p:cNvPr>
            <p:cNvSpPr/>
            <p:nvPr/>
          </p:nvSpPr>
          <p:spPr>
            <a:xfrm>
              <a:off x="1801831" y="4183887"/>
              <a:ext cx="3502000" cy="1481826"/>
            </a:xfrm>
            <a:prstGeom prst="rect">
              <a:avLst/>
            </a:prstGeom>
            <a:noFill/>
            <a:ln w="30480" cap="flat" cmpd="sng" algn="ctr">
              <a:solidFill>
                <a:srgbClr val="A34E3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Annotation2">
              <a:extLst>
                <a:ext uri="{FF2B5EF4-FFF2-40B4-BE49-F238E27FC236}">
                  <a16:creationId xmlns:a16="http://schemas.microsoft.com/office/drawing/2014/main" id="{E525ECE5-BE6D-3CC3-D128-5C7C74931691}"/>
                </a:ext>
              </a:extLst>
            </p:cNvPr>
            <p:cNvSpPr txBox="1"/>
            <p:nvPr/>
          </p:nvSpPr>
          <p:spPr>
            <a:xfrm>
              <a:off x="9131300" y="3251200"/>
              <a:ext cx="2489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altLang="zh-CN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02  </a:t>
              </a:r>
              <a:r>
                <a:rPr lang="zh-CN" altLang="en-US" b="1">
                  <a:solidFill>
                    <a:srgbClr val="A34E3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样本与复核</a:t>
              </a:r>
            </a:p>
            <a:p>
              <a:pPr>
                <a:spcAft>
                  <a:spcPts val="1000"/>
                </a:spcAft>
              </a:pPr>
              <a:r>
                <a:rPr lang="zh-CN" altLang="en-US">
                  <a:solidFill>
                    <a:srgbClr val="172F28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同时看已判定数量和待复核数量，样本不足时不作强结论。</a:t>
              </a:r>
            </a:p>
          </p:txBody>
        </p:sp>
      </p:grpSp>
      <p:sp>
        <p:nvSpPr>
          <p:cNvPr id="13" name="ClickHint">
            <a:extLst>
              <a:ext uri="{FF2B5EF4-FFF2-40B4-BE49-F238E27FC236}">
                <a16:creationId xmlns:a16="http://schemas.microsoft.com/office/drawing/2014/main" id="{7266080E-1821-F14F-4427-DA058A206BDF}"/>
              </a:ext>
            </a:extLst>
          </p:cNvPr>
          <p:cNvSpPr txBox="1"/>
          <p:nvPr/>
        </p:nvSpPr>
        <p:spPr>
          <a:xfrm>
            <a:off x="9131300" y="59055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13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单击依次显示功能批注</a:t>
            </a:r>
          </a:p>
        </p:txBody>
      </p:sp>
    </p:spTree>
    <p:extLst>
      <p:ext uri="{BB962C8B-B14F-4D97-AF65-F5344CB8AC3E}">
        <p14:creationId xmlns:p14="http://schemas.microsoft.com/office/powerpoint/2010/main" val="321640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C284CF5-B18C-F644-B7AE-FC94B474D07C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软件验证与当前能力边界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827608E-5CEE-92D0-F14A-AD3302464361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17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Verification">
            <a:extLst>
              <a:ext uri="{FF2B5EF4-FFF2-40B4-BE49-F238E27FC236}">
                <a16:creationId xmlns:a16="http://schemas.microsoft.com/office/drawing/2014/main" id="{2F42C23A-3E52-4E1A-6F26-C6D8281BE67F}"/>
              </a:ext>
            </a:extLst>
          </p:cNvPr>
          <p:cNvSpPr txBox="1"/>
          <p:nvPr/>
        </p:nvSpPr>
        <p:spPr>
          <a:xfrm>
            <a:off x="558800" y="16764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7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已完成的工程验证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1E309419-D1B1-370C-04D3-82403E7C4FA5}"/>
              </a:ext>
            </a:extLst>
          </p:cNvPr>
          <p:cNvSpPr txBox="1"/>
          <p:nvPr/>
        </p:nvSpPr>
        <p:spPr>
          <a:xfrm>
            <a:off x="558800" y="2679700"/>
            <a:ext cx="5372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21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 </a:t>
            </a:r>
            <a:r>
              <a:rPr lang="zh-CN" altLang="en-US" sz="21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项核心测试通过</a:t>
            </a:r>
          </a:p>
          <a:p>
            <a:pPr>
              <a:spcAft>
                <a:spcPts val="1000"/>
              </a:spcAft>
            </a:pPr>
            <a:r>
              <a:rPr lang="en-US" altLang="zh-CN" sz="21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 </a:t>
            </a:r>
            <a:r>
              <a:rPr lang="zh-CN" altLang="en-US" sz="21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项端到端测试通过</a:t>
            </a:r>
          </a:p>
          <a:p>
            <a:pPr>
              <a:spcAft>
                <a:spcPts val="1000"/>
              </a:spcAft>
            </a:pPr>
            <a:r>
              <a:rPr lang="zh-CN" altLang="en-US" sz="21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构建通过，主要功能链有回归验证</a:t>
            </a:r>
          </a:p>
          <a:p>
            <a:pPr>
              <a:spcAft>
                <a:spcPts val="1000"/>
              </a:spcAft>
            </a:pPr>
            <a:r>
              <a:rPr lang="zh-CN" altLang="en-US" sz="21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分离页面状态、业务服务、数据访问和 </a:t>
            </a:r>
            <a:r>
              <a:rPr lang="en-US" altLang="zh-CN" sz="21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NLP</a:t>
            </a:r>
            <a:endParaRPr lang="zh-CN" altLang="en-US" sz="2100">
              <a:solidFill>
                <a:srgbClr val="172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LimitTitle">
            <a:extLst>
              <a:ext uri="{FF2B5EF4-FFF2-40B4-BE49-F238E27FC236}">
                <a16:creationId xmlns:a16="http://schemas.microsoft.com/office/drawing/2014/main" id="{F58544B3-5D2D-33EE-DCE7-739C6C6DE637}"/>
              </a:ext>
            </a:extLst>
          </p:cNvPr>
          <p:cNvSpPr txBox="1"/>
          <p:nvPr/>
        </p:nvSpPr>
        <p:spPr>
          <a:xfrm>
            <a:off x="6477000" y="16764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7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仍需验证与完善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8EAB1061-DF9B-19A1-4BA0-C7CBEBDB2652}"/>
              </a:ext>
            </a:extLst>
          </p:cNvPr>
          <p:cNvSpPr txBox="1"/>
          <p:nvPr/>
        </p:nvSpPr>
        <p:spPr>
          <a:xfrm>
            <a:off x="6477000" y="26797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1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当前语义版本的真实金标准评估</a:t>
            </a:r>
          </a:p>
          <a:p>
            <a:pPr>
              <a:spcAft>
                <a:spcPts val="1000"/>
              </a:spcAft>
            </a:pPr>
            <a:r>
              <a:rPr lang="zh-CN" altLang="en-US" sz="21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跨产品、跨来源的泛化能力</a:t>
            </a:r>
          </a:p>
          <a:p>
            <a:pPr>
              <a:spcAft>
                <a:spcPts val="1000"/>
              </a:spcAft>
            </a:pPr>
            <a:r>
              <a:rPr lang="zh-CN" altLang="en-US" sz="21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平台页面变化与登录限制</a:t>
            </a:r>
          </a:p>
          <a:p>
            <a:pPr>
              <a:spcAft>
                <a:spcPts val="1000"/>
              </a:spcAft>
            </a:pPr>
            <a:r>
              <a:rPr lang="zh-CN" altLang="en-US" sz="21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公网多人部署与压力测试</a:t>
            </a:r>
          </a:p>
        </p:txBody>
      </p:sp>
    </p:spTree>
    <p:extLst>
      <p:ext uri="{BB962C8B-B14F-4D97-AF65-F5344CB8AC3E}">
        <p14:creationId xmlns:p14="http://schemas.microsoft.com/office/powerpoint/2010/main" val="254150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E32D24F-746E-EB32-168D-BE2C9876D597}"/>
              </a:ext>
            </a:extLst>
          </p:cNvPr>
          <p:cNvSpPr txBox="1"/>
          <p:nvPr/>
        </p:nvSpPr>
        <p:spPr>
          <a:xfrm>
            <a:off x="558800" y="381000"/>
            <a:ext cx="1107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3200" b="1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应用闭环与下一步验证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C0EDC00-99DD-DE43-C078-10B95B3413A8}"/>
              </a:ext>
            </a:extLst>
          </p:cNvPr>
          <p:cNvSpPr txBox="1"/>
          <p:nvPr/>
        </p:nvSpPr>
        <p:spPr>
          <a:xfrm>
            <a:off x="11137900" y="6350000"/>
            <a:ext cx="48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en-US" altLang="zh-CN" sz="1200">
                <a:solidFill>
                  <a:srgbClr val="53635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</a:t>
            </a:r>
            <a:endParaRPr lang="zh-CN" altLang="en-US" sz="1200">
              <a:solidFill>
                <a:srgbClr val="53635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894F71A-18B6-5AA6-7C3E-DBBBAEC1881E}"/>
              </a:ext>
            </a:extLst>
          </p:cNvPr>
          <p:cNvSpPr txBox="1"/>
          <p:nvPr/>
        </p:nvSpPr>
        <p:spPr>
          <a:xfrm>
            <a:off x="558800" y="19431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1000"/>
              </a:spcAft>
            </a:pPr>
            <a:r>
              <a:rPr lang="zh-CN" altLang="en-US" sz="26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评论能够从 </a:t>
            </a:r>
            <a:r>
              <a:rPr lang="en-US" altLang="zh-CN" sz="26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CSV </a:t>
            </a:r>
            <a:r>
              <a:rPr lang="zh-CN" altLang="en-US" sz="26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进入系统，经过模型分析后回到可核对的原文。</a:t>
            </a:r>
          </a:p>
          <a:p>
            <a:pPr>
              <a:spcAft>
                <a:spcPts val="1000"/>
              </a:spcAft>
            </a:pPr>
            <a:endParaRPr lang="zh-CN" altLang="en-US" sz="2600">
              <a:solidFill>
                <a:srgbClr val="172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zh-CN" altLang="en-US" sz="26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两条路线各有用途：语义模型处理复杂表达，</a:t>
            </a:r>
            <a:r>
              <a:rPr lang="en-US" altLang="zh-CN" sz="26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MNB </a:t>
            </a:r>
            <a:r>
              <a:rPr lang="zh-CN" altLang="en-US" sz="26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提供可训练的统计基线。</a:t>
            </a:r>
          </a:p>
          <a:p>
            <a:pPr>
              <a:spcAft>
                <a:spcPts val="1000"/>
              </a:spcAft>
            </a:pPr>
            <a:endParaRPr lang="zh-CN" altLang="en-US" sz="2600">
              <a:solidFill>
                <a:srgbClr val="172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1000"/>
              </a:spcAft>
            </a:pPr>
            <a:r>
              <a:rPr lang="zh-CN" altLang="en-US" sz="2600">
                <a:solidFill>
                  <a:srgbClr val="172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下一步冻结真实测试集，完成独立标注，再比较当前版本的准确性、失败率与耗时。</a:t>
            </a:r>
          </a:p>
        </p:txBody>
      </p:sp>
    </p:spTree>
    <p:extLst>
      <p:ext uri="{BB962C8B-B14F-4D97-AF65-F5344CB8AC3E}">
        <p14:creationId xmlns:p14="http://schemas.microsoft.com/office/powerpoint/2010/main" val="49615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3964</Words>
  <Application>Microsoft Office PowerPoint</Application>
  <PresentationFormat>自定义</PresentationFormat>
  <Paragraphs>244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632275023@qq.com</dc:creator>
  <cp:lastModifiedBy>632275023@qq.com</cp:lastModifiedBy>
  <cp:revision>1</cp:revision>
  <dcterms:created xsi:type="dcterms:W3CDTF">2026-10-14T14:52:58Z</dcterms:created>
  <dcterms:modified xsi:type="dcterms:W3CDTF">2026-10-14T14:52:58Z</dcterms:modified>
</cp:coreProperties>
</file>